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5" r:id="rId3"/>
    <p:sldId id="267" r:id="rId4"/>
    <p:sldId id="282" r:id="rId5"/>
    <p:sldId id="273" r:id="rId6"/>
    <p:sldId id="283" r:id="rId7"/>
    <p:sldId id="284" r:id="rId8"/>
    <p:sldId id="285" r:id="rId9"/>
    <p:sldId id="286" r:id="rId10"/>
    <p:sldId id="287" r:id="rId11"/>
    <p:sldId id="288" r:id="rId12"/>
    <p:sldId id="289" r:id="rId13"/>
    <p:sldId id="290" r:id="rId14"/>
    <p:sldId id="291" r:id="rId15"/>
    <p:sldId id="292" r:id="rId16"/>
    <p:sldId id="293" r:id="rId17"/>
    <p:sldId id="278" r:id="rId18"/>
    <p:sldId id="281" r:id="rId19"/>
    <p:sldId id="294" r:id="rId20"/>
    <p:sldId id="279"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476"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8T10:24:47.728"/>
    </inkml:context>
    <inkml:brush xml:id="br0">
      <inkml:brushProperty name="width" value="0.025" units="cm"/>
      <inkml:brushProperty name="height" value="0.02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0920D7-CC48-41ED-85F1-0D281B90019D}" type="datetimeFigureOut">
              <a:rPr lang="en-IN" smtClean="0"/>
              <a:t>26-09-2025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0CBD0-78F5-4E3A-A869-B91A12633079}" type="slidenum">
              <a:rPr lang="en-IN" smtClean="0"/>
              <a:t>‹#›</a:t>
            </a:fld>
            <a:endParaRPr lang="en-IN"/>
          </a:p>
        </p:txBody>
      </p:sp>
    </p:spTree>
    <p:extLst>
      <p:ext uri="{BB962C8B-B14F-4D97-AF65-F5344CB8AC3E}">
        <p14:creationId xmlns:p14="http://schemas.microsoft.com/office/powerpoint/2010/main" val="994293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7223bd2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7223bd2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6727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BB7E0AFD-DC34-E1B8-A2A4-90BDD615A14C}"/>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9482DED1-A776-FC94-F433-F4C09B6E8E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C6820D07-CFE5-1FDA-2CCD-74471BD789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7940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B7FD4431-8C15-9AC0-2E04-6FD5273023E1}"/>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E33E1399-1F6F-1D17-9442-D68B44F059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8132688C-8ADC-FFCD-0D6F-42D9CF781F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8378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5106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23496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11234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4747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1046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8783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9678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3601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3809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2602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7324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7C31B59-8659-D927-CAE7-B0CEB6B777BA}"/>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A7AA435-10F7-C6DB-F07C-3D687BF63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F8772CC0-EBAA-614D-30A5-B2AFC3649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7576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C3A2B3D9-126E-FBF7-CEFC-242E4FE77A67}"/>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BF43D2EB-413E-24EE-6CFE-7F5DC7BC84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9B83A1AA-5591-1F79-9112-6E7E8DDC7C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58666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19C494C4-421D-0D36-7A0E-A06CA4E0B35D}"/>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18671DEB-7E17-94F5-DECD-8C635C7143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6C15AA0E-AA9D-CAE6-21C7-DD162BDA8C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2218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56281F8B-2B80-16BB-FB6A-EDC0F8962A75}"/>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2E156F3-D0CB-1512-57B1-535B8B951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E788358E-7A16-D40C-4058-09BAEB5C90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00548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56281F8B-2B80-16BB-FB6A-EDC0F8962A75}"/>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A2E156F3-D0CB-1512-57B1-535B8B951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E788358E-7A16-D40C-4058-09BAEB5C90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53504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7FA1CE47-391B-802B-D6E3-132CCD4C4624}"/>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B7C71F1F-A23E-A31A-F86B-2BB417174F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9FDE5673-EC7A-79A2-1BDC-80AA8BD22C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391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D90F-C43B-4F9A-9FFF-985906D176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96677C-639E-48A2-B04F-FB40C56D7B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C17917-DB80-4316-A554-31E75E061FD1}"/>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5" name="Footer Placeholder 4">
            <a:extLst>
              <a:ext uri="{FF2B5EF4-FFF2-40B4-BE49-F238E27FC236}">
                <a16:creationId xmlns:a16="http://schemas.microsoft.com/office/drawing/2014/main" id="{51B8E1EF-9033-46E1-9109-7D31A21FEC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C9D932-DE47-46F8-B328-DF80DF8EE790}"/>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3848296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E8A45-489B-4F1C-80CA-EA67CB9952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5620F9-A5E3-4CC3-81B0-D0F38B6E80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8848FC-3D40-40DE-94F2-EA022EA10B7F}"/>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5" name="Footer Placeholder 4">
            <a:extLst>
              <a:ext uri="{FF2B5EF4-FFF2-40B4-BE49-F238E27FC236}">
                <a16:creationId xmlns:a16="http://schemas.microsoft.com/office/drawing/2014/main" id="{B89C360E-B730-40AE-B8BA-4493AA886F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21C9D7-38A9-4DD6-85C1-824236FD83B1}"/>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1479882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603F-8B87-4606-BCC4-F207698169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CBAD69-270E-41DB-B305-8D51E918BC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4FFD8A-871C-4D92-AC99-CF1B1841CAAB}"/>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5" name="Footer Placeholder 4">
            <a:extLst>
              <a:ext uri="{FF2B5EF4-FFF2-40B4-BE49-F238E27FC236}">
                <a16:creationId xmlns:a16="http://schemas.microsoft.com/office/drawing/2014/main" id="{B35844C5-3CF9-4155-A88E-9225381C87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E8DE5B-9E52-41B5-B937-93807E7B4D07}"/>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1680137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27927-0F01-4569-B164-24A3B72289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442A4C-AE22-4B73-878C-3F918BF99A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FBF830-7A58-452E-9D42-BFB91144AF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BE4B74-7A6F-43E3-84BA-9214C540E142}"/>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6" name="Footer Placeholder 5">
            <a:extLst>
              <a:ext uri="{FF2B5EF4-FFF2-40B4-BE49-F238E27FC236}">
                <a16:creationId xmlns:a16="http://schemas.microsoft.com/office/drawing/2014/main" id="{F777C53E-88C4-4AD9-8F03-78A292EF5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848B4B-5241-49EF-9A9F-733CCF1AAD27}"/>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3435143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8BD7-B46A-48DF-9F9A-E9A83D16C5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242160-588D-4EAD-9974-6452B0FF7F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1801F1-A30B-4FC5-BADB-D670403C9A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2B05CC-8E9F-4A7B-B69E-014D7B7AB7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8A214-40DE-4DA2-8505-A76D41631A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2CE6D4-AF62-4254-B8D4-CD7F28EE1712}"/>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8" name="Footer Placeholder 7">
            <a:extLst>
              <a:ext uri="{FF2B5EF4-FFF2-40B4-BE49-F238E27FC236}">
                <a16:creationId xmlns:a16="http://schemas.microsoft.com/office/drawing/2014/main" id="{37841CD7-0BAE-4EC9-909E-0D0492C2EF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6D6169-8661-4E61-8555-7AD3B0C1688D}"/>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3559444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7766-C7B2-4AC5-8423-914FAF7589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0FF720-D86A-413B-80AE-B49C7AFC5C43}"/>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4" name="Footer Placeholder 3">
            <a:extLst>
              <a:ext uri="{FF2B5EF4-FFF2-40B4-BE49-F238E27FC236}">
                <a16:creationId xmlns:a16="http://schemas.microsoft.com/office/drawing/2014/main" id="{C43D97DE-F664-4A8A-9E58-FCB2ABA476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238528-5AC2-41C0-BB7A-4B3DDF9C0E8B}"/>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690576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38BED1-2303-45E8-A55B-612A5C64292B}"/>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3" name="Footer Placeholder 2">
            <a:extLst>
              <a:ext uri="{FF2B5EF4-FFF2-40B4-BE49-F238E27FC236}">
                <a16:creationId xmlns:a16="http://schemas.microsoft.com/office/drawing/2014/main" id="{33C9AAEF-9232-48D2-986F-2E3DC58804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2C4B41-4A28-4C12-8F4E-4D0BF80B43D1}"/>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3385304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0D24D-ED93-4AE9-B848-87C7A78537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C7F745B-0F69-438B-849B-DF68D8DD10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BC8161-370C-4162-9FF2-D7C1232B4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07C4BC-2B53-47E6-8160-9D0E4080BAAB}"/>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6" name="Footer Placeholder 5">
            <a:extLst>
              <a:ext uri="{FF2B5EF4-FFF2-40B4-BE49-F238E27FC236}">
                <a16:creationId xmlns:a16="http://schemas.microsoft.com/office/drawing/2014/main" id="{710B2A66-02C8-49C6-8237-6B1CB26E3F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089068-CA89-4337-B933-DEB01FB1A7AC}"/>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783065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F4761-EE74-4CFF-8D6F-38D751F0E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F7D620-ECEC-45D7-855B-5009D5A68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850AEA-9339-4013-9DC7-5C05DDF4F5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AD8402-FD11-442D-9D04-1ED729FF038E}"/>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6" name="Footer Placeholder 5">
            <a:extLst>
              <a:ext uri="{FF2B5EF4-FFF2-40B4-BE49-F238E27FC236}">
                <a16:creationId xmlns:a16="http://schemas.microsoft.com/office/drawing/2014/main" id="{386CEB7A-5DCC-4C03-8A65-6402F84EC9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F8DDC2-D405-40ED-ADCF-D9A95B585ACC}"/>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3748119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5D02-4AD6-47B7-A09F-1C3A34A27E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BF1726-D0B6-4E7E-8E82-248FF8EA46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603704-3277-4746-AEF0-052A1961E615}"/>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5" name="Footer Placeholder 4">
            <a:extLst>
              <a:ext uri="{FF2B5EF4-FFF2-40B4-BE49-F238E27FC236}">
                <a16:creationId xmlns:a16="http://schemas.microsoft.com/office/drawing/2014/main" id="{18CCDF37-A88B-4253-ABCD-8B11B19E67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FCA3B-3FD3-4421-BDE7-38A9D6DF35EF}"/>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3471142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99DFE5-8F9D-4F94-8642-FB7E046765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6D5CA6-3FA6-4D5A-85EB-2C7356E7D4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F44371-FBC7-44D0-A038-764E3359280F}"/>
              </a:ext>
            </a:extLst>
          </p:cNvPr>
          <p:cNvSpPr>
            <a:spLocks noGrp="1"/>
          </p:cNvSpPr>
          <p:nvPr>
            <p:ph type="dt" sz="half" idx="10"/>
          </p:nvPr>
        </p:nvSpPr>
        <p:spPr/>
        <p:txBody>
          <a:bodyPr/>
          <a:lstStyle/>
          <a:p>
            <a:fld id="{85ADE770-7659-4F27-B90C-2ED422EAB41C}" type="datetimeFigureOut">
              <a:rPr lang="en-IN" smtClean="0"/>
              <a:t>26-09-2025</a:t>
            </a:fld>
            <a:endParaRPr lang="en-IN"/>
          </a:p>
        </p:txBody>
      </p:sp>
      <p:sp>
        <p:nvSpPr>
          <p:cNvPr id="5" name="Footer Placeholder 4">
            <a:extLst>
              <a:ext uri="{FF2B5EF4-FFF2-40B4-BE49-F238E27FC236}">
                <a16:creationId xmlns:a16="http://schemas.microsoft.com/office/drawing/2014/main" id="{D002A197-907E-4DC1-84F0-EDA1D2B2C8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296F2E-8FE9-43D5-ACDB-DCB1027E30B5}"/>
              </a:ext>
            </a:extLst>
          </p:cNvPr>
          <p:cNvSpPr>
            <a:spLocks noGrp="1"/>
          </p:cNvSpPr>
          <p:nvPr>
            <p:ph type="sldNum" sz="quarter" idx="12"/>
          </p:nvPr>
        </p:nvSpPr>
        <p:spPr/>
        <p:txBody>
          <a:bodyPr/>
          <a:lstStyle/>
          <a:p>
            <a:fld id="{3CF82214-D528-43AC-A633-1F838264AD33}" type="slidenum">
              <a:rPr lang="en-IN" smtClean="0"/>
              <a:t>‹#›</a:t>
            </a:fld>
            <a:endParaRPr lang="en-IN"/>
          </a:p>
        </p:txBody>
      </p:sp>
    </p:spTree>
    <p:extLst>
      <p:ext uri="{BB962C8B-B14F-4D97-AF65-F5344CB8AC3E}">
        <p14:creationId xmlns:p14="http://schemas.microsoft.com/office/powerpoint/2010/main" val="2473366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A9BF1-C511-4B19-A2AA-E8676D04B7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2D8FF7-8DD0-4B51-B388-C9FD1C5126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9DA86B-F062-49C5-B24F-10FFAFFB51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ADE770-7659-4F27-B90C-2ED422EAB41C}" type="datetimeFigureOut">
              <a:rPr lang="en-IN" smtClean="0"/>
              <a:t>26-09-2025</a:t>
            </a:fld>
            <a:endParaRPr lang="en-IN"/>
          </a:p>
        </p:txBody>
      </p:sp>
      <p:sp>
        <p:nvSpPr>
          <p:cNvPr id="5" name="Footer Placeholder 4">
            <a:extLst>
              <a:ext uri="{FF2B5EF4-FFF2-40B4-BE49-F238E27FC236}">
                <a16:creationId xmlns:a16="http://schemas.microsoft.com/office/drawing/2014/main" id="{7E3FA693-8756-4C82-930C-FFD9EFF9BB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CF5871B-4D9E-46DD-8766-5C5D477FD0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F82214-D528-43AC-A633-1F838264AD33}" type="slidenum">
              <a:rPr lang="en-IN" smtClean="0"/>
              <a:t>‹#›</a:t>
            </a:fld>
            <a:endParaRPr lang="en-IN"/>
          </a:p>
        </p:txBody>
      </p:sp>
    </p:spTree>
    <p:extLst>
      <p:ext uri="{BB962C8B-B14F-4D97-AF65-F5344CB8AC3E}">
        <p14:creationId xmlns:p14="http://schemas.microsoft.com/office/powerpoint/2010/main" val="2988585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330" name="Google Shape;330;p13"/>
          <p:cNvSpPr txBox="1"/>
          <p:nvPr/>
        </p:nvSpPr>
        <p:spPr>
          <a:xfrm>
            <a:off x="204200" y="2189608"/>
            <a:ext cx="11360800" cy="1829600"/>
          </a:xfrm>
          <a:prstGeom prst="rect">
            <a:avLst/>
          </a:prstGeom>
          <a:noFill/>
          <a:ln>
            <a:noFill/>
          </a:ln>
        </p:spPr>
        <p:txBody>
          <a:bodyPr spcFirstLastPara="1" wrap="square" lIns="121900" tIns="121900" rIns="121900" bIns="121900" anchor="ctr" anchorCtr="0">
            <a:noAutofit/>
          </a:bodyPr>
          <a:lstStyle/>
          <a:p>
            <a:pPr marL="609585" algn="ctr">
              <a:spcBef>
                <a:spcPts val="2133"/>
              </a:spcBef>
              <a:spcAft>
                <a:spcPts val="1600"/>
              </a:spcAft>
            </a:pPr>
            <a:r>
              <a:rPr lang="en-US" sz="5400" dirty="0">
                <a:solidFill>
                  <a:srgbClr val="FF6A0E"/>
                </a:solidFill>
              </a:rPr>
              <a:t>Saloon Shop Performance Analysis  Python Project </a:t>
            </a:r>
            <a:endParaRPr lang="en-IN" sz="6000" b="1" dirty="0">
              <a:solidFill>
                <a:srgbClr val="FF6A0E"/>
              </a:solidFill>
            </a:endParaRPr>
          </a:p>
        </p:txBody>
      </p:sp>
      <p:sp>
        <p:nvSpPr>
          <p:cNvPr id="334" name="Google Shape;334;p13"/>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buClr>
                <a:srgbClr val="000000"/>
              </a:buClr>
              <a:buSzPts val="1200"/>
            </a:pP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35" name="Google Shape;335;p13"/>
          <p:cNvSpPr/>
          <p:nvPr/>
        </p:nvSpPr>
        <p:spPr>
          <a:xfrm>
            <a:off x="-1340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4D63B57-2B6C-4AEF-AA4E-F393A4E8B2DF}"/>
              </a:ext>
            </a:extLst>
          </p:cNvPr>
          <p:cNvSpPr txBox="1"/>
          <p:nvPr/>
        </p:nvSpPr>
        <p:spPr>
          <a:xfrm>
            <a:off x="8392632" y="5302103"/>
            <a:ext cx="3172368" cy="420564"/>
          </a:xfrm>
          <a:prstGeom prst="rect">
            <a:avLst/>
          </a:prstGeom>
          <a:noFill/>
        </p:spPr>
        <p:txBody>
          <a:bodyPr wrap="square" rtlCol="0">
            <a:spAutoFit/>
          </a:bodyPr>
          <a:lstStyle/>
          <a:p>
            <a:r>
              <a:rPr lang="en-US" sz="2133" b="1" dirty="0">
                <a:solidFill>
                  <a:srgbClr val="FF6A0E"/>
                </a:solidFill>
              </a:rPr>
              <a:t>Vinay A. Dandekar</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40596" y="172324"/>
            <a:ext cx="848809" cy="7343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Introduction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p:cNvSpPr txBox="1"/>
          <p:nvPr/>
        </p:nvSpPr>
        <p:spPr>
          <a:xfrm>
            <a:off x="26800" y="984541"/>
            <a:ext cx="12192000" cy="5416259"/>
          </a:xfrm>
          <a:prstGeom prst="rect">
            <a:avLst/>
          </a:prstGeom>
          <a:noFill/>
          <a:ln>
            <a:noFill/>
          </a:ln>
        </p:spPr>
        <p:txBody>
          <a:bodyPr spcFirstLastPara="1" wrap="square" lIns="365733" tIns="365733" rIns="365733" bIns="365733" anchor="t" anchorCtr="0">
            <a:noAutofit/>
          </a:bodyPr>
          <a:lstStyle/>
          <a:p>
            <a:r>
              <a:rPr lang="en-US" sz="2133" dirty="0"/>
              <a:t>	</a:t>
            </a:r>
            <a:r>
              <a:rPr lang="en-US" sz="2400" dirty="0"/>
              <a:t>The Hair Saloon Customer Analysis project was created to study customer behavior, spending patterns, and loyalty at a local salon. The dataset includes details like age, gender, visit frequency, type of service, spending per visit, total spend, loyalty program participation, promotional response, and feedback scores.</a:t>
            </a:r>
            <a:br>
              <a:rPr lang="en-US" sz="2400" dirty="0"/>
            </a:br>
            <a:endParaRPr lang="en-US" sz="2400" dirty="0"/>
          </a:p>
          <a:p>
            <a:r>
              <a:rPr lang="en-US" sz="2400" dirty="0"/>
              <a:t>Through this project, I learned how to segment customers based on spending, visits, and loyalty, analyze their value using RFM scores, and measure the impact of promotions and loyalty programs. This helped me understand how data analysis can identify high-value customers, improve customer retention, and support better marketing and personalized services.</a:t>
            </a: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750392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E146B702-42E6-3504-8441-0D63DD4527CE}"/>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B9E3C936-A9BF-1CBF-00E6-8C5322FA5310}"/>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267" b="1" dirty="0">
                <a:solidFill>
                  <a:schemeClr val="bg1"/>
                </a:solidFill>
                <a:latin typeface="Calibri" panose="020F0502020204030204" pitchFamily="34" charset="0"/>
                <a:ea typeface="Calibri" panose="020F0502020204030204" pitchFamily="34" charset="0"/>
                <a:cs typeface="Calibri" panose="020F0502020204030204" pitchFamily="34" charset="0"/>
                <a:sym typeface="Roboto"/>
              </a:rPr>
              <a:t>Dataset Description</a:t>
            </a:r>
            <a:r>
              <a:rPr lang="en-IN" sz="4267" b="1" spc="400" dirty="0">
                <a:solidFill>
                  <a:schemeClr val="bg1"/>
                </a:solidFill>
                <a:latin typeface="Calibri" panose="020F0502020204030204" pitchFamily="34" charset="0"/>
                <a:ea typeface="Calibri" panose="020F0502020204030204" pitchFamily="34" charset="0"/>
                <a:cs typeface="Calibri" panose="020F0502020204030204" pitchFamily="34" charset="0"/>
                <a:sym typeface="Roboto"/>
              </a:rPr>
              <a:t> </a:t>
            </a: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DD91D1FF-9733-58A3-DEF8-6035E73E0849}"/>
              </a:ext>
            </a:extLst>
          </p:cNvPr>
          <p:cNvSpPr txBox="1"/>
          <p:nvPr/>
        </p:nvSpPr>
        <p:spPr>
          <a:xfrm>
            <a:off x="26800" y="984541"/>
            <a:ext cx="12192000" cy="5416259"/>
          </a:xfrm>
          <a:prstGeom prst="rect">
            <a:avLst/>
          </a:prstGeom>
          <a:noFill/>
          <a:ln>
            <a:noFill/>
          </a:ln>
        </p:spPr>
        <p:txBody>
          <a:bodyPr spcFirstLastPara="1" wrap="square" lIns="365733" tIns="365733" rIns="365733" bIns="365733" anchor="t" anchorCtr="0">
            <a:noAutofit/>
          </a:bodyPr>
          <a:lstStyle/>
          <a:p>
            <a:pPr marL="575986">
              <a:spcBef>
                <a:spcPts val="800"/>
              </a:spcBef>
              <a:spcAft>
                <a:spcPts val="800"/>
              </a:spcAft>
            </a:pPr>
            <a:r>
              <a:rPr lang="en-US" sz="2133" dirty="0"/>
              <a:t>The dataset includes Columns :</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Age &amp; Gender</a:t>
            </a:r>
            <a:r>
              <a:rPr kumimoji="0" lang="en-US" altLang="en-US" b="0" i="0" u="none" strike="noStrike" cap="none" normalizeH="0" baseline="0" dirty="0">
                <a:ln>
                  <a:noFill/>
                </a:ln>
                <a:solidFill>
                  <a:schemeClr val="tx1"/>
                </a:solidFill>
                <a:effectLst/>
                <a:latin typeface="Arial" panose="020B0604020202020204" pitchFamily="34" charset="0"/>
              </a:rPr>
              <a:t> : Basic demographic details of the customers.</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Visit_Frequency</a:t>
            </a:r>
            <a:r>
              <a:rPr kumimoji="0" lang="en-US" altLang="en-US" b="1" i="0" u="none" strike="noStrike" cap="none" normalizeH="0" baseline="0" dirty="0">
                <a:ln>
                  <a:noFill/>
                </a:ln>
                <a:solidFill>
                  <a:schemeClr val="tx1"/>
                </a:solidFill>
                <a:effectLst/>
                <a:latin typeface="Arial" panose="020B0604020202020204" pitchFamily="34" charset="0"/>
              </a:rPr>
              <a:t> &amp; </a:t>
            </a:r>
            <a:r>
              <a:rPr kumimoji="0" lang="en-US" altLang="en-US" b="1" i="0" u="none" strike="noStrike" cap="none" normalizeH="0" baseline="0" dirty="0" err="1">
                <a:ln>
                  <a:noFill/>
                </a:ln>
                <a:solidFill>
                  <a:schemeClr val="tx1"/>
                </a:solidFill>
                <a:effectLst/>
                <a:latin typeface="Arial" panose="020B0604020202020204" pitchFamily="34" charset="0"/>
              </a:rPr>
              <a:t>Visit_Frequency_Group</a:t>
            </a:r>
            <a:r>
              <a:rPr kumimoji="0" lang="en-US" altLang="en-US" b="0" i="0" u="none" strike="noStrike" cap="none" normalizeH="0" baseline="0" dirty="0">
                <a:ln>
                  <a:noFill/>
                </a:ln>
                <a:solidFill>
                  <a:schemeClr val="tx1"/>
                </a:solidFill>
                <a:effectLst/>
                <a:latin typeface="Arial" panose="020B0604020202020204" pitchFamily="34" charset="0"/>
              </a:rPr>
              <a:t> : Number of times a customer visits and their categorized frequency group.</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Service_Type</a:t>
            </a:r>
            <a:r>
              <a:rPr kumimoji="0" lang="en-US" altLang="en-US" b="0" i="0" u="none" strike="noStrike" cap="none" normalizeH="0" baseline="0" dirty="0">
                <a:ln>
                  <a:noFill/>
                </a:ln>
                <a:solidFill>
                  <a:schemeClr val="tx1"/>
                </a:solidFill>
                <a:effectLst/>
                <a:latin typeface="Arial" panose="020B0604020202020204" pitchFamily="34" charset="0"/>
              </a:rPr>
              <a:t> : Type of service taken such as haircut, coloring, or treatment.</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Average_Spend_Per_Visit</a:t>
            </a:r>
            <a:r>
              <a:rPr kumimoji="0" lang="en-US" altLang="en-US" b="1" i="0" u="none" strike="noStrike" cap="none" normalizeH="0" baseline="0" dirty="0">
                <a:ln>
                  <a:noFill/>
                </a:ln>
                <a:solidFill>
                  <a:schemeClr val="tx1"/>
                </a:solidFill>
                <a:effectLst/>
                <a:latin typeface="Arial" panose="020B0604020202020204" pitchFamily="34" charset="0"/>
              </a:rPr>
              <a:t> &amp; </a:t>
            </a:r>
            <a:r>
              <a:rPr kumimoji="0" lang="en-US" altLang="en-US" b="1" i="0" u="none" strike="noStrike" cap="none" normalizeH="0" baseline="0" dirty="0" err="1">
                <a:ln>
                  <a:noFill/>
                </a:ln>
                <a:solidFill>
                  <a:schemeClr val="tx1"/>
                </a:solidFill>
                <a:effectLst/>
                <a:latin typeface="Arial" panose="020B0604020202020204" pitchFamily="34" charset="0"/>
              </a:rPr>
              <a:t>Total_Spend</a:t>
            </a:r>
            <a:r>
              <a:rPr kumimoji="0" lang="en-US" altLang="en-US" b="0" i="0" u="none" strike="noStrike" cap="none" normalizeH="0" baseline="0" dirty="0">
                <a:ln>
                  <a:noFill/>
                </a:ln>
                <a:solidFill>
                  <a:schemeClr val="tx1"/>
                </a:solidFill>
                <a:effectLst/>
                <a:latin typeface="Arial" panose="020B0604020202020204" pitchFamily="34" charset="0"/>
              </a:rPr>
              <a:t> : Customer’s spending per visit and overall spending at the salon.</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Loyalty_Program</a:t>
            </a:r>
            <a:r>
              <a:rPr kumimoji="0" lang="en-US" altLang="en-US" b="0" i="0" u="none" strike="noStrike" cap="none" normalizeH="0" baseline="0" dirty="0">
                <a:ln>
                  <a:noFill/>
                </a:ln>
                <a:solidFill>
                  <a:schemeClr val="tx1"/>
                </a:solidFill>
                <a:effectLst/>
                <a:latin typeface="Arial" panose="020B0604020202020204" pitchFamily="34" charset="0"/>
              </a:rPr>
              <a:t> : Whether the customer is enrolled in the salon’s loyalty program.</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Promotional_Response</a:t>
            </a:r>
            <a:r>
              <a:rPr kumimoji="0" lang="en-US" altLang="en-US" b="0" i="0" u="none" strike="noStrike" cap="none" normalizeH="0" baseline="0" dirty="0">
                <a:ln>
                  <a:noFill/>
                </a:ln>
                <a:solidFill>
                  <a:schemeClr val="tx1"/>
                </a:solidFill>
                <a:effectLst/>
                <a:latin typeface="Arial" panose="020B0604020202020204" pitchFamily="34" charset="0"/>
              </a:rPr>
              <a:t> : Customer’s response to special offers and promotions.</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Feedback_Score</a:t>
            </a:r>
            <a:r>
              <a:rPr kumimoji="0" lang="en-US" altLang="en-US" b="0" i="0" u="none" strike="noStrike" cap="none" normalizeH="0" baseline="0" dirty="0">
                <a:ln>
                  <a:noFill/>
                </a:ln>
                <a:solidFill>
                  <a:schemeClr val="tx1"/>
                </a:solidFill>
                <a:effectLst/>
                <a:latin typeface="Arial" panose="020B0604020202020204" pitchFamily="34" charset="0"/>
              </a:rPr>
              <a:t> : Rating or feedback given by the customer.</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Age_Group</a:t>
            </a:r>
            <a:r>
              <a:rPr kumimoji="0" lang="en-US" altLang="en-US" b="0" i="0" u="none" strike="noStrike" cap="none" normalizeH="0" baseline="0" dirty="0">
                <a:ln>
                  <a:noFill/>
                </a:ln>
                <a:solidFill>
                  <a:schemeClr val="tx1"/>
                </a:solidFill>
                <a:effectLst/>
                <a:latin typeface="Arial" panose="020B0604020202020204" pitchFamily="34" charset="0"/>
              </a:rPr>
              <a:t> : Categorized age groups like adult, middle age, or senior.</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Customer_Value</a:t>
            </a:r>
            <a:r>
              <a:rPr kumimoji="0" lang="en-US" altLang="en-US" b="0" i="0" u="none" strike="noStrike" cap="none" normalizeH="0" baseline="0" dirty="0">
                <a:ln>
                  <a:noFill/>
                </a:ln>
                <a:solidFill>
                  <a:schemeClr val="tx1"/>
                </a:solidFill>
                <a:effectLst/>
                <a:latin typeface="Arial" panose="020B0604020202020204" pitchFamily="34" charset="0"/>
              </a:rPr>
              <a:t> : Segmentation of customers as high, medium, or low value.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393" name="Google Shape;393;p19">
            <a:extLst>
              <a:ext uri="{FF2B5EF4-FFF2-40B4-BE49-F238E27FC236}">
                <a16:creationId xmlns:a16="http://schemas.microsoft.com/office/drawing/2014/main" id="{F20AE1C9-9224-8239-4E1D-203275BCC1FE}"/>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8A973C7A-912A-2043-1FEE-96AE08971939}"/>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4B4010BA-8244-F9D4-8A6A-BCF2C4D51F32}"/>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3920981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D45777A5-C488-813A-2B0D-814A7E0E7A68}"/>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0329CB9B-2A45-D319-CC22-5EE6FB3C8CCF}"/>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Problem Statement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4AF6AA11-FBF7-76C1-B79D-0E61F9690D1C}"/>
              </a:ext>
            </a:extLst>
          </p:cNvPr>
          <p:cNvSpPr txBox="1"/>
          <p:nvPr/>
        </p:nvSpPr>
        <p:spPr>
          <a:xfrm>
            <a:off x="13400" y="984543"/>
            <a:ext cx="12192000" cy="5562725"/>
          </a:xfrm>
          <a:prstGeom prst="rect">
            <a:avLst/>
          </a:prstGeom>
          <a:noFill/>
          <a:ln>
            <a:noFill/>
          </a:ln>
        </p:spPr>
        <p:txBody>
          <a:bodyPr spcFirstLastPara="1" wrap="square" lIns="365733" tIns="365733" rIns="365733" bIns="365733" anchor="t" anchorCtr="0">
            <a:noAutofit/>
          </a:bodyPr>
          <a:lstStyle/>
          <a:p>
            <a:pPr marL="342900" indent="-342900">
              <a:buFont typeface="Wingdings" panose="05000000000000000000" pitchFamily="2" charset="2"/>
              <a:buChar char="q"/>
            </a:pPr>
            <a:r>
              <a:rPr lang="en-US" sz="2133"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customer’s engagement and value to a hair salon depend on several factors: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Demographics (Age, Gender, Age Group)</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Visit behavior (Visit Frequency, Service Type, Visit Frequency Group)</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Spending patterns (Average Spend per Visit, Total Spend)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Loyalty and promotions (Loyalty Program, Promotional Response)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Feedback and satisfaction (Feedback Score)</a:t>
            </a:r>
          </a:p>
          <a:p>
            <a:endParaRPr lang="en-US" sz="2400" dirty="0"/>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Salon owners cannot easily identify which customers are </a:t>
            </a:r>
            <a:r>
              <a:rPr lang="en-US" sz="2400" b="1" dirty="0">
                <a:latin typeface="Times New Roman" panose="02020603050405020304" pitchFamily="18" charset="0"/>
                <a:cs typeface="Times New Roman" panose="02020603050405020304" pitchFamily="18" charset="0"/>
              </a:rPr>
              <a:t>high-value, loyal, or at risk</a:t>
            </a:r>
            <a:r>
              <a:rPr lang="en-US" sz="2400" dirty="0">
                <a:latin typeface="Times New Roman" panose="02020603050405020304" pitchFamily="18" charset="0"/>
                <a:cs typeface="Times New Roman" panose="02020603050405020304" pitchFamily="18" charset="0"/>
              </a:rPr>
              <a:t> just by looking at raw data.</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This project aims to build an analytical model using these features to segment customers, understand their behavior, measure loyalty, and provide actionable insights for better marketing, retention, and personalized services.</a:t>
            </a:r>
          </a:p>
        </p:txBody>
      </p:sp>
      <p:sp>
        <p:nvSpPr>
          <p:cNvPr id="393" name="Google Shape;393;p19">
            <a:extLst>
              <a:ext uri="{FF2B5EF4-FFF2-40B4-BE49-F238E27FC236}">
                <a16:creationId xmlns:a16="http://schemas.microsoft.com/office/drawing/2014/main" id="{1F7BDDD7-9605-FACF-65FC-87E8DC642290}"/>
              </a:ext>
            </a:extLst>
          </p:cNvPr>
          <p:cNvSpPr txBox="1"/>
          <p:nvPr/>
        </p:nvSpPr>
        <p:spPr>
          <a:xfrm>
            <a:off x="0" y="6547268"/>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CA331526-63B7-FF44-89C9-AD14F08931EF}"/>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3713AE4A-4E5D-4239-A5DB-EE55B6E06FCE}"/>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42F98B5-8619-EF7E-9F4D-B5B785439AB0}"/>
                  </a:ext>
                </a:extLst>
              </p14:cNvPr>
              <p14:cNvContentPartPr/>
              <p14:nvPr/>
            </p14:nvContentPartPr>
            <p14:xfrm>
              <a:off x="5422840" y="4521360"/>
              <a:ext cx="480" cy="480"/>
            </p14:xfrm>
          </p:contentPart>
        </mc:Choice>
        <mc:Fallback xmlns="">
          <p:pic>
            <p:nvPicPr>
              <p:cNvPr id="2" name="Ink 1">
                <a:extLst>
                  <a:ext uri="{FF2B5EF4-FFF2-40B4-BE49-F238E27FC236}">
                    <a16:creationId xmlns:a16="http://schemas.microsoft.com/office/drawing/2014/main" id="{742F98B5-8619-EF7E-9F4D-B5B785439AB0}"/>
                  </a:ext>
                </a:extLst>
              </p:cNvPr>
              <p:cNvPicPr/>
              <p:nvPr/>
            </p:nvPicPr>
            <p:blipFill>
              <a:blip r:embed="rId4"/>
              <a:stretch>
                <a:fillRect/>
              </a:stretch>
            </p:blipFill>
            <p:spPr>
              <a:xfrm>
                <a:off x="5417080" y="4515600"/>
                <a:ext cx="12000" cy="12000"/>
              </a:xfrm>
              <a:prstGeom prst="rect">
                <a:avLst/>
              </a:prstGeom>
            </p:spPr>
          </p:pic>
        </mc:Fallback>
      </mc:AlternateContent>
    </p:spTree>
    <p:extLst>
      <p:ext uri="{BB962C8B-B14F-4D97-AF65-F5344CB8AC3E}">
        <p14:creationId xmlns:p14="http://schemas.microsoft.com/office/powerpoint/2010/main" val="2714651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1066773" indent="-457189" algn="just">
              <a:spcAft>
                <a:spcPts val="2133"/>
              </a:spcAft>
              <a:buAutoNum type="arabicPeriod"/>
            </a:pPr>
            <a:r>
              <a:rPr lang="en-US" sz="2400" b="1" dirty="0"/>
              <a:t>Customer Segmentation Insights</a:t>
            </a:r>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1200"/>
              </a:spcAft>
            </a:pPr>
            <a:r>
              <a:rPr lang="en-IN" sz="2133" b="1" dirty="0" err="1">
                <a:solidFill>
                  <a:schemeClr val="dk1"/>
                </a:solidFill>
                <a:latin typeface="Roboto"/>
                <a:ea typeface="Roboto"/>
                <a:cs typeface="Roboto"/>
                <a:sym typeface="Roboto"/>
              </a:rPr>
              <a:t>plt.figure</a:t>
            </a:r>
            <a:r>
              <a:rPr lang="en-IN" sz="2133" b="1" dirty="0">
                <a:solidFill>
                  <a:schemeClr val="dk1"/>
                </a:solidFill>
                <a:latin typeface="Roboto"/>
                <a:ea typeface="Roboto"/>
                <a:cs typeface="Roboto"/>
                <a:sym typeface="Roboto"/>
              </a:rPr>
              <a:t>(</a:t>
            </a:r>
            <a:r>
              <a:rPr lang="en-IN" sz="2133" b="1" dirty="0" err="1">
                <a:solidFill>
                  <a:schemeClr val="dk1"/>
                </a:solidFill>
                <a:latin typeface="Roboto"/>
                <a:ea typeface="Roboto"/>
                <a:cs typeface="Roboto"/>
                <a:sym typeface="Roboto"/>
              </a:rPr>
              <a:t>figsize</a:t>
            </a:r>
            <a:r>
              <a:rPr lang="en-IN" sz="2133" b="1" dirty="0">
                <a:solidFill>
                  <a:schemeClr val="dk1"/>
                </a:solidFill>
                <a:latin typeface="Roboto"/>
                <a:ea typeface="Roboto"/>
                <a:cs typeface="Roboto"/>
                <a:sym typeface="Roboto"/>
              </a:rPr>
              <a:t>=(6,4))</a:t>
            </a:r>
          </a:p>
          <a:p>
            <a:pPr marL="609584" algn="just">
              <a:spcAft>
                <a:spcPts val="1200"/>
              </a:spcAft>
            </a:pPr>
            <a:r>
              <a:rPr lang="en-IN" sz="2133" b="1" dirty="0" err="1">
                <a:solidFill>
                  <a:schemeClr val="dk1"/>
                </a:solidFill>
                <a:latin typeface="Roboto"/>
                <a:ea typeface="Roboto"/>
                <a:cs typeface="Roboto"/>
                <a:sym typeface="Roboto"/>
              </a:rPr>
              <a:t>sns.histplot</a:t>
            </a:r>
            <a:r>
              <a:rPr lang="en-IN" sz="2133" b="1" dirty="0">
                <a:solidFill>
                  <a:schemeClr val="dk1"/>
                </a:solidFill>
                <a:latin typeface="Roboto"/>
                <a:ea typeface="Roboto"/>
                <a:cs typeface="Roboto"/>
                <a:sym typeface="Roboto"/>
              </a:rPr>
              <a:t>(data['Age'], bins =25 ,</a:t>
            </a:r>
            <a:r>
              <a:rPr lang="en-IN" sz="2133" b="1" dirty="0" err="1">
                <a:solidFill>
                  <a:schemeClr val="dk1"/>
                </a:solidFill>
                <a:latin typeface="Roboto"/>
                <a:ea typeface="Roboto"/>
                <a:cs typeface="Roboto"/>
                <a:sym typeface="Roboto"/>
              </a:rPr>
              <a:t>kde</a:t>
            </a:r>
            <a:r>
              <a:rPr lang="en-IN" sz="2133" b="1" dirty="0">
                <a:solidFill>
                  <a:schemeClr val="dk1"/>
                </a:solidFill>
                <a:latin typeface="Roboto"/>
                <a:ea typeface="Roboto"/>
                <a:cs typeface="Roboto"/>
                <a:sym typeface="Roboto"/>
              </a:rPr>
              <a:t>=True)</a:t>
            </a:r>
          </a:p>
          <a:p>
            <a:pPr marL="609584" algn="just">
              <a:spcAft>
                <a:spcPts val="1200"/>
              </a:spcAft>
            </a:pPr>
            <a:r>
              <a:rPr lang="en-IN" sz="2133" b="1" dirty="0" err="1">
                <a:solidFill>
                  <a:schemeClr val="dk1"/>
                </a:solidFill>
                <a:latin typeface="Roboto"/>
                <a:ea typeface="Roboto"/>
                <a:cs typeface="Roboto"/>
                <a:sym typeface="Roboto"/>
              </a:rPr>
              <a:t>plt.title</a:t>
            </a:r>
            <a:r>
              <a:rPr lang="en-IN" sz="2133" b="1" dirty="0">
                <a:solidFill>
                  <a:schemeClr val="dk1"/>
                </a:solidFill>
                <a:latin typeface="Roboto"/>
                <a:ea typeface="Roboto"/>
                <a:cs typeface="Roboto"/>
                <a:sym typeface="Roboto"/>
              </a:rPr>
              <a:t>("Age Distribution of Customers")</a:t>
            </a:r>
          </a:p>
          <a:p>
            <a:pPr marL="609584" algn="just">
              <a:spcAft>
                <a:spcPts val="1200"/>
              </a:spcAft>
            </a:pPr>
            <a:r>
              <a:rPr lang="en-IN" sz="2133" b="1" dirty="0" err="1">
                <a:solidFill>
                  <a:schemeClr val="dk1"/>
                </a:solidFill>
                <a:latin typeface="Roboto"/>
                <a:ea typeface="Roboto"/>
                <a:cs typeface="Roboto"/>
                <a:sym typeface="Roboto"/>
              </a:rPr>
              <a:t>plt.show</a:t>
            </a:r>
            <a:r>
              <a:rPr lang="en-IN" sz="2133" b="1" dirty="0">
                <a:solidFill>
                  <a:schemeClr val="dk1"/>
                </a:solidFill>
                <a:latin typeface="Roboto"/>
                <a:ea typeface="Roboto"/>
                <a:cs typeface="Roboto"/>
                <a:sym typeface="Roboto"/>
              </a:rPr>
              <a:t>()</a:t>
            </a:r>
            <a:endParaRPr sz="2133" b="1"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DDD19F65-5E56-45AF-9AA5-A3882F176D4B}"/>
              </a:ext>
            </a:extLst>
          </p:cNvPr>
          <p:cNvPicPr>
            <a:picLocks noChangeAspect="1"/>
          </p:cNvPicPr>
          <p:nvPr/>
        </p:nvPicPr>
        <p:blipFill>
          <a:blip r:embed="rId3"/>
          <a:stretch>
            <a:fillRect/>
          </a:stretch>
        </p:blipFill>
        <p:spPr>
          <a:xfrm>
            <a:off x="6750424" y="1759872"/>
            <a:ext cx="5103976" cy="3865596"/>
          </a:xfrm>
          <a:prstGeom prst="rect">
            <a:avLst/>
          </a:prstGeom>
        </p:spPr>
      </p:pic>
    </p:spTree>
    <p:extLst>
      <p:ext uri="{BB962C8B-B14F-4D97-AF65-F5344CB8AC3E}">
        <p14:creationId xmlns:p14="http://schemas.microsoft.com/office/powerpoint/2010/main" val="4103334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2. Customer Segmentation Insights: </a:t>
            </a:r>
            <a:r>
              <a:rPr lang="en-IN" sz="2000" dirty="0">
                <a:solidFill>
                  <a:schemeClr val="dk1"/>
                </a:solidFill>
                <a:latin typeface="Roboto"/>
                <a:ea typeface="Roboto"/>
                <a:cs typeface="Roboto"/>
                <a:sym typeface="Roboto"/>
              </a:rPr>
              <a:t>Gender distribution</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1200"/>
              </a:spcAft>
            </a:pPr>
            <a:r>
              <a:rPr lang="en-IN" sz="2133" b="1" dirty="0">
                <a:solidFill>
                  <a:schemeClr val="dk1"/>
                </a:solidFill>
                <a:latin typeface="Roboto"/>
                <a:ea typeface="Roboto"/>
                <a:cs typeface="Roboto"/>
                <a:sym typeface="Roboto"/>
              </a:rPr>
              <a:t># Gender distribution</a:t>
            </a:r>
          </a:p>
          <a:p>
            <a:pPr marL="609584" algn="just">
              <a:spcAft>
                <a:spcPts val="1200"/>
              </a:spcAft>
            </a:pPr>
            <a:r>
              <a:rPr lang="en-IN" sz="2133" b="1" dirty="0" err="1">
                <a:solidFill>
                  <a:schemeClr val="dk1"/>
                </a:solidFill>
                <a:latin typeface="Roboto"/>
                <a:ea typeface="Roboto"/>
                <a:cs typeface="Roboto"/>
                <a:sym typeface="Roboto"/>
              </a:rPr>
              <a:t>plt.figure</a:t>
            </a:r>
            <a:r>
              <a:rPr lang="en-IN" sz="2133" b="1" dirty="0">
                <a:solidFill>
                  <a:schemeClr val="dk1"/>
                </a:solidFill>
                <a:latin typeface="Roboto"/>
                <a:ea typeface="Roboto"/>
                <a:cs typeface="Roboto"/>
                <a:sym typeface="Roboto"/>
              </a:rPr>
              <a:t>(</a:t>
            </a:r>
            <a:r>
              <a:rPr lang="en-IN" sz="2133" b="1" dirty="0" err="1">
                <a:solidFill>
                  <a:schemeClr val="dk1"/>
                </a:solidFill>
                <a:latin typeface="Roboto"/>
                <a:ea typeface="Roboto"/>
                <a:cs typeface="Roboto"/>
                <a:sym typeface="Roboto"/>
              </a:rPr>
              <a:t>figsize</a:t>
            </a:r>
            <a:r>
              <a:rPr lang="en-IN" sz="2133" b="1" dirty="0">
                <a:solidFill>
                  <a:schemeClr val="dk1"/>
                </a:solidFill>
                <a:latin typeface="Roboto"/>
                <a:ea typeface="Roboto"/>
                <a:cs typeface="Roboto"/>
                <a:sym typeface="Roboto"/>
              </a:rPr>
              <a:t>=(5,4))</a:t>
            </a:r>
          </a:p>
          <a:p>
            <a:pPr marL="609584" algn="just">
              <a:spcAft>
                <a:spcPts val="1200"/>
              </a:spcAft>
            </a:pPr>
            <a:r>
              <a:rPr lang="en-IN" sz="2133" b="1" dirty="0" err="1">
                <a:solidFill>
                  <a:schemeClr val="dk1"/>
                </a:solidFill>
                <a:latin typeface="Roboto"/>
                <a:ea typeface="Roboto"/>
                <a:cs typeface="Roboto"/>
                <a:sym typeface="Roboto"/>
              </a:rPr>
              <a:t>sns.countplot</a:t>
            </a:r>
            <a:r>
              <a:rPr lang="en-IN" sz="2133" b="1" dirty="0">
                <a:solidFill>
                  <a:schemeClr val="dk1"/>
                </a:solidFill>
                <a:latin typeface="Roboto"/>
                <a:ea typeface="Roboto"/>
                <a:cs typeface="Roboto"/>
                <a:sym typeface="Roboto"/>
              </a:rPr>
              <a:t>(x='Gender', data=data )</a:t>
            </a:r>
          </a:p>
          <a:p>
            <a:pPr marL="609584" algn="just">
              <a:spcAft>
                <a:spcPts val="1200"/>
              </a:spcAft>
            </a:pPr>
            <a:r>
              <a:rPr lang="en-IN" sz="2133" b="1" dirty="0" err="1">
                <a:solidFill>
                  <a:schemeClr val="dk1"/>
                </a:solidFill>
                <a:latin typeface="Roboto"/>
                <a:ea typeface="Roboto"/>
                <a:cs typeface="Roboto"/>
                <a:sym typeface="Roboto"/>
              </a:rPr>
              <a:t>plt.title</a:t>
            </a:r>
            <a:r>
              <a:rPr lang="en-IN" sz="2133" b="1" dirty="0">
                <a:solidFill>
                  <a:schemeClr val="dk1"/>
                </a:solidFill>
                <a:latin typeface="Roboto"/>
                <a:ea typeface="Roboto"/>
                <a:cs typeface="Roboto"/>
                <a:sym typeface="Roboto"/>
              </a:rPr>
              <a:t>("Customer Gender Distribution")</a:t>
            </a:r>
          </a:p>
          <a:p>
            <a:pPr marL="609584" algn="just">
              <a:spcAft>
                <a:spcPts val="1200"/>
              </a:spcAft>
            </a:pPr>
            <a:r>
              <a:rPr lang="en-IN" sz="2133" b="1" dirty="0" err="1">
                <a:solidFill>
                  <a:schemeClr val="dk1"/>
                </a:solidFill>
                <a:latin typeface="Roboto"/>
                <a:ea typeface="Roboto"/>
                <a:cs typeface="Roboto"/>
                <a:sym typeface="Roboto"/>
              </a:rPr>
              <a:t>plt.show</a:t>
            </a:r>
            <a:r>
              <a:rPr lang="en-IN" sz="2133" b="1" dirty="0">
                <a:solidFill>
                  <a:schemeClr val="dk1"/>
                </a:solidFill>
                <a:latin typeface="Roboto"/>
                <a:ea typeface="Roboto"/>
                <a:cs typeface="Roboto"/>
                <a:sym typeface="Roboto"/>
              </a:rPr>
              <a:t>()</a:t>
            </a:r>
            <a:endParaRPr sz="2133" b="1"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3" name="Picture 2">
            <a:extLst>
              <a:ext uri="{FF2B5EF4-FFF2-40B4-BE49-F238E27FC236}">
                <a16:creationId xmlns:a16="http://schemas.microsoft.com/office/drawing/2014/main" id="{B06FEB88-3283-4B45-9880-3D418D678FA2}"/>
              </a:ext>
            </a:extLst>
          </p:cNvPr>
          <p:cNvPicPr>
            <a:picLocks noChangeAspect="1"/>
          </p:cNvPicPr>
          <p:nvPr/>
        </p:nvPicPr>
        <p:blipFill>
          <a:blip r:embed="rId3"/>
          <a:stretch>
            <a:fillRect/>
          </a:stretch>
        </p:blipFill>
        <p:spPr>
          <a:xfrm>
            <a:off x="6096000" y="2178424"/>
            <a:ext cx="5114843" cy="3971364"/>
          </a:xfrm>
          <a:prstGeom prst="rect">
            <a:avLst/>
          </a:prstGeom>
        </p:spPr>
      </p:pic>
    </p:spTree>
    <p:extLst>
      <p:ext uri="{BB962C8B-B14F-4D97-AF65-F5344CB8AC3E}">
        <p14:creationId xmlns:p14="http://schemas.microsoft.com/office/powerpoint/2010/main" val="69559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3. Customer Segmentation Insights: </a:t>
            </a:r>
            <a:r>
              <a:rPr lang="en-IN" sz="2000" dirty="0">
                <a:solidFill>
                  <a:schemeClr val="dk1"/>
                </a:solidFill>
                <a:latin typeface="Roboto"/>
                <a:ea typeface="Roboto"/>
                <a:cs typeface="Roboto"/>
                <a:sym typeface="Roboto"/>
              </a:rPr>
              <a:t>Visit Frequency Groups</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1200"/>
              </a:spcAft>
            </a:pPr>
            <a:r>
              <a:rPr lang="en-IN" sz="2133" b="1" dirty="0">
                <a:solidFill>
                  <a:schemeClr val="dk1"/>
                </a:solidFill>
                <a:latin typeface="Roboto"/>
                <a:ea typeface="Roboto"/>
                <a:cs typeface="Roboto"/>
                <a:sym typeface="Roboto"/>
              </a:rPr>
              <a:t>#Visit Frequency Groups</a:t>
            </a:r>
          </a:p>
          <a:p>
            <a:pPr marL="609584" algn="just">
              <a:spcAft>
                <a:spcPts val="1200"/>
              </a:spcAft>
            </a:pPr>
            <a:r>
              <a:rPr lang="en-IN" sz="2133" b="1" dirty="0" err="1">
                <a:solidFill>
                  <a:schemeClr val="dk1"/>
                </a:solidFill>
                <a:latin typeface="Roboto"/>
                <a:ea typeface="Roboto"/>
                <a:cs typeface="Roboto"/>
                <a:sym typeface="Roboto"/>
              </a:rPr>
              <a:t>plt.figure</a:t>
            </a:r>
            <a:r>
              <a:rPr lang="en-IN" sz="2133" b="1" dirty="0">
                <a:solidFill>
                  <a:schemeClr val="dk1"/>
                </a:solidFill>
                <a:latin typeface="Roboto"/>
                <a:ea typeface="Roboto"/>
                <a:cs typeface="Roboto"/>
                <a:sym typeface="Roboto"/>
              </a:rPr>
              <a:t>(</a:t>
            </a:r>
            <a:r>
              <a:rPr lang="en-IN" sz="2133" b="1" dirty="0" err="1">
                <a:solidFill>
                  <a:schemeClr val="dk1"/>
                </a:solidFill>
                <a:latin typeface="Roboto"/>
                <a:ea typeface="Roboto"/>
                <a:cs typeface="Roboto"/>
                <a:sym typeface="Roboto"/>
              </a:rPr>
              <a:t>figsize</a:t>
            </a:r>
            <a:r>
              <a:rPr lang="en-IN" sz="2133" b="1" dirty="0">
                <a:solidFill>
                  <a:schemeClr val="dk1"/>
                </a:solidFill>
                <a:latin typeface="Roboto"/>
                <a:ea typeface="Roboto"/>
                <a:cs typeface="Roboto"/>
                <a:sym typeface="Roboto"/>
              </a:rPr>
              <a:t>=(6,4))</a:t>
            </a:r>
          </a:p>
          <a:p>
            <a:pPr marL="609584" algn="just">
              <a:spcAft>
                <a:spcPts val="1200"/>
              </a:spcAft>
            </a:pPr>
            <a:r>
              <a:rPr lang="en-IN" sz="2133" b="1" dirty="0" err="1">
                <a:solidFill>
                  <a:schemeClr val="dk1"/>
                </a:solidFill>
                <a:latin typeface="Roboto"/>
                <a:ea typeface="Roboto"/>
                <a:cs typeface="Roboto"/>
                <a:sym typeface="Roboto"/>
              </a:rPr>
              <a:t>sns.countplot</a:t>
            </a:r>
            <a:r>
              <a:rPr lang="en-IN" sz="2133" b="1" dirty="0">
                <a:solidFill>
                  <a:schemeClr val="dk1"/>
                </a:solidFill>
                <a:latin typeface="Roboto"/>
                <a:ea typeface="Roboto"/>
                <a:cs typeface="Roboto"/>
                <a:sym typeface="Roboto"/>
              </a:rPr>
              <a:t>(x='</a:t>
            </a:r>
            <a:r>
              <a:rPr lang="en-IN" sz="2133" b="1" dirty="0" err="1">
                <a:solidFill>
                  <a:schemeClr val="dk1"/>
                </a:solidFill>
                <a:latin typeface="Roboto"/>
                <a:ea typeface="Roboto"/>
                <a:cs typeface="Roboto"/>
                <a:sym typeface="Roboto"/>
              </a:rPr>
              <a:t>Visit_Frequency_Group</a:t>
            </a:r>
            <a:r>
              <a:rPr lang="en-IN" sz="2133" b="1" dirty="0">
                <a:solidFill>
                  <a:schemeClr val="dk1"/>
                </a:solidFill>
                <a:latin typeface="Roboto"/>
                <a:ea typeface="Roboto"/>
                <a:cs typeface="Roboto"/>
                <a:sym typeface="Roboto"/>
              </a:rPr>
              <a:t>’,</a:t>
            </a:r>
          </a:p>
          <a:p>
            <a:pPr marL="609584" algn="just">
              <a:spcAft>
                <a:spcPts val="1200"/>
              </a:spcAft>
            </a:pPr>
            <a:r>
              <a:rPr lang="en-IN" sz="2133" b="1" dirty="0">
                <a:solidFill>
                  <a:schemeClr val="dk1"/>
                </a:solidFill>
                <a:latin typeface="Roboto"/>
                <a:ea typeface="Roboto"/>
                <a:cs typeface="Roboto"/>
                <a:sym typeface="Roboto"/>
              </a:rPr>
              <a:t>data=</a:t>
            </a:r>
            <a:r>
              <a:rPr lang="en-IN" sz="2133" b="1" dirty="0" err="1">
                <a:solidFill>
                  <a:schemeClr val="dk1"/>
                </a:solidFill>
                <a:latin typeface="Roboto"/>
                <a:ea typeface="Roboto"/>
                <a:cs typeface="Roboto"/>
                <a:sym typeface="Roboto"/>
              </a:rPr>
              <a:t>data,order</a:t>
            </a:r>
            <a:r>
              <a:rPr lang="en-IN" sz="2133" b="1" dirty="0">
                <a:solidFill>
                  <a:schemeClr val="dk1"/>
                </a:solidFill>
                <a:latin typeface="Roboto"/>
                <a:ea typeface="Roboto"/>
                <a:cs typeface="Roboto"/>
                <a:sym typeface="Roboto"/>
              </a:rPr>
              <a:t>=data['</a:t>
            </a:r>
            <a:r>
              <a:rPr lang="en-IN" sz="2133" b="1" dirty="0" err="1">
                <a:solidFill>
                  <a:schemeClr val="dk1"/>
                </a:solidFill>
                <a:latin typeface="Roboto"/>
                <a:ea typeface="Roboto"/>
                <a:cs typeface="Roboto"/>
                <a:sym typeface="Roboto"/>
              </a:rPr>
              <a:t>Visit_Frequency_Group</a:t>
            </a:r>
            <a:r>
              <a:rPr lang="en-IN" sz="2133" b="1" dirty="0">
                <a:solidFill>
                  <a:schemeClr val="dk1"/>
                </a:solidFill>
                <a:latin typeface="Roboto"/>
                <a:ea typeface="Roboto"/>
                <a:cs typeface="Roboto"/>
                <a:sym typeface="Roboto"/>
              </a:rPr>
              <a:t>’]</a:t>
            </a:r>
          </a:p>
          <a:p>
            <a:pPr marL="609584" algn="just">
              <a:spcAft>
                <a:spcPts val="1200"/>
              </a:spcAft>
            </a:pPr>
            <a:r>
              <a:rPr lang="en-IN" sz="2133" b="1" dirty="0">
                <a:solidFill>
                  <a:schemeClr val="dk1"/>
                </a:solidFill>
                <a:latin typeface="Roboto"/>
                <a:ea typeface="Roboto"/>
                <a:cs typeface="Roboto"/>
                <a:sym typeface="Roboto"/>
              </a:rPr>
              <a:t>.</a:t>
            </a:r>
            <a:r>
              <a:rPr lang="en-IN" sz="2133" b="1" dirty="0" err="1">
                <a:solidFill>
                  <a:schemeClr val="dk1"/>
                </a:solidFill>
                <a:latin typeface="Roboto"/>
                <a:ea typeface="Roboto"/>
                <a:cs typeface="Roboto"/>
                <a:sym typeface="Roboto"/>
              </a:rPr>
              <a:t>value_counts</a:t>
            </a:r>
            <a:r>
              <a:rPr lang="en-IN" sz="2133" b="1" dirty="0">
                <a:solidFill>
                  <a:schemeClr val="dk1"/>
                </a:solidFill>
                <a:latin typeface="Roboto"/>
                <a:ea typeface="Roboto"/>
                <a:cs typeface="Roboto"/>
                <a:sym typeface="Roboto"/>
              </a:rPr>
              <a:t>().index)</a:t>
            </a:r>
          </a:p>
          <a:p>
            <a:pPr marL="609584" algn="just">
              <a:spcAft>
                <a:spcPts val="1200"/>
              </a:spcAft>
            </a:pPr>
            <a:r>
              <a:rPr lang="en-IN" sz="2133" b="1" dirty="0" err="1">
                <a:solidFill>
                  <a:schemeClr val="dk1"/>
                </a:solidFill>
                <a:latin typeface="Roboto"/>
                <a:ea typeface="Roboto"/>
                <a:cs typeface="Roboto"/>
                <a:sym typeface="Roboto"/>
              </a:rPr>
              <a:t>plt.title</a:t>
            </a:r>
            <a:r>
              <a:rPr lang="en-IN" sz="2133" b="1" dirty="0">
                <a:solidFill>
                  <a:schemeClr val="dk1"/>
                </a:solidFill>
                <a:latin typeface="Roboto"/>
                <a:ea typeface="Roboto"/>
                <a:cs typeface="Roboto"/>
                <a:sym typeface="Roboto"/>
              </a:rPr>
              <a:t>("Visit Frequency Groups")</a:t>
            </a:r>
          </a:p>
          <a:p>
            <a:pPr marL="609584" algn="just">
              <a:spcAft>
                <a:spcPts val="1200"/>
              </a:spcAft>
            </a:pPr>
            <a:r>
              <a:rPr lang="en-IN" sz="2133" b="1" dirty="0" err="1">
                <a:solidFill>
                  <a:schemeClr val="dk1"/>
                </a:solidFill>
                <a:latin typeface="Roboto"/>
                <a:ea typeface="Roboto"/>
                <a:cs typeface="Roboto"/>
                <a:sym typeface="Roboto"/>
              </a:rPr>
              <a:t>plt.show</a:t>
            </a:r>
            <a:r>
              <a:rPr lang="en-IN" sz="2133" b="1" dirty="0">
                <a:solidFill>
                  <a:schemeClr val="dk1"/>
                </a:solidFill>
                <a:latin typeface="Roboto"/>
                <a:ea typeface="Roboto"/>
                <a:cs typeface="Roboto"/>
                <a:sym typeface="Roboto"/>
              </a:rPr>
              <a:t>()</a:t>
            </a:r>
            <a:endParaRPr sz="2133" b="1"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3D68D4FB-8C5C-4D19-AB38-AA158C21C525}"/>
              </a:ext>
            </a:extLst>
          </p:cNvPr>
          <p:cNvPicPr>
            <a:picLocks noChangeAspect="1"/>
          </p:cNvPicPr>
          <p:nvPr/>
        </p:nvPicPr>
        <p:blipFill>
          <a:blip r:embed="rId3"/>
          <a:stretch>
            <a:fillRect/>
          </a:stretch>
        </p:blipFill>
        <p:spPr>
          <a:xfrm>
            <a:off x="6849034" y="1739153"/>
            <a:ext cx="5190565" cy="4356069"/>
          </a:xfrm>
          <a:prstGeom prst="rect">
            <a:avLst/>
          </a:prstGeom>
        </p:spPr>
      </p:pic>
    </p:spTree>
    <p:extLst>
      <p:ext uri="{BB962C8B-B14F-4D97-AF65-F5344CB8AC3E}">
        <p14:creationId xmlns:p14="http://schemas.microsoft.com/office/powerpoint/2010/main" val="4017521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4. Customer Segmentation Insights: </a:t>
            </a:r>
            <a:r>
              <a:rPr lang="en-IN" sz="2000" dirty="0">
                <a:solidFill>
                  <a:schemeClr val="dk1"/>
                </a:solidFill>
                <a:latin typeface="Roboto"/>
                <a:ea typeface="Roboto"/>
                <a:cs typeface="Roboto"/>
                <a:sym typeface="Roboto"/>
              </a:rPr>
              <a:t>Customer Value distribution</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1200"/>
              </a:spcAft>
            </a:pPr>
            <a:r>
              <a:rPr lang="en-IN" sz="2133" b="1" dirty="0">
                <a:solidFill>
                  <a:schemeClr val="dk1"/>
                </a:solidFill>
                <a:latin typeface="Roboto"/>
                <a:ea typeface="Roboto"/>
                <a:cs typeface="Roboto"/>
                <a:sym typeface="Roboto"/>
              </a:rPr>
              <a:t># Customer Value distribution</a:t>
            </a:r>
          </a:p>
          <a:p>
            <a:pPr marL="609584" algn="just">
              <a:spcAft>
                <a:spcPts val="1200"/>
              </a:spcAft>
            </a:pPr>
            <a:r>
              <a:rPr lang="en-IN" sz="2133" b="1" dirty="0" err="1">
                <a:solidFill>
                  <a:schemeClr val="dk1"/>
                </a:solidFill>
                <a:latin typeface="Roboto"/>
                <a:ea typeface="Roboto"/>
                <a:cs typeface="Roboto"/>
                <a:sym typeface="Roboto"/>
              </a:rPr>
              <a:t>plt.figure</a:t>
            </a:r>
            <a:r>
              <a:rPr lang="en-IN" sz="2133" b="1" dirty="0">
                <a:solidFill>
                  <a:schemeClr val="dk1"/>
                </a:solidFill>
                <a:latin typeface="Roboto"/>
                <a:ea typeface="Roboto"/>
                <a:cs typeface="Roboto"/>
                <a:sym typeface="Roboto"/>
              </a:rPr>
              <a:t>(</a:t>
            </a:r>
            <a:r>
              <a:rPr lang="en-IN" sz="2133" b="1" dirty="0" err="1">
                <a:solidFill>
                  <a:schemeClr val="dk1"/>
                </a:solidFill>
                <a:latin typeface="Roboto"/>
                <a:ea typeface="Roboto"/>
                <a:cs typeface="Roboto"/>
                <a:sym typeface="Roboto"/>
              </a:rPr>
              <a:t>figsize</a:t>
            </a:r>
            <a:r>
              <a:rPr lang="en-IN" sz="2133" b="1" dirty="0">
                <a:solidFill>
                  <a:schemeClr val="dk1"/>
                </a:solidFill>
                <a:latin typeface="Roboto"/>
                <a:ea typeface="Roboto"/>
                <a:cs typeface="Roboto"/>
                <a:sym typeface="Roboto"/>
              </a:rPr>
              <a:t>=(5,4))</a:t>
            </a:r>
          </a:p>
          <a:p>
            <a:pPr marL="609584" algn="just">
              <a:spcAft>
                <a:spcPts val="1200"/>
              </a:spcAft>
            </a:pPr>
            <a:r>
              <a:rPr lang="en-IN" sz="2133" b="1" dirty="0" err="1">
                <a:solidFill>
                  <a:schemeClr val="dk1"/>
                </a:solidFill>
                <a:latin typeface="Roboto"/>
                <a:ea typeface="Roboto"/>
                <a:cs typeface="Roboto"/>
                <a:sym typeface="Roboto"/>
              </a:rPr>
              <a:t>sns.countplot</a:t>
            </a:r>
            <a:r>
              <a:rPr lang="en-IN" sz="2133" b="1" dirty="0">
                <a:solidFill>
                  <a:schemeClr val="dk1"/>
                </a:solidFill>
                <a:latin typeface="Roboto"/>
                <a:ea typeface="Roboto"/>
                <a:cs typeface="Roboto"/>
                <a:sym typeface="Roboto"/>
              </a:rPr>
              <a:t>(x='</a:t>
            </a:r>
            <a:r>
              <a:rPr lang="en-IN" sz="2133" b="1" dirty="0" err="1">
                <a:solidFill>
                  <a:schemeClr val="dk1"/>
                </a:solidFill>
                <a:latin typeface="Roboto"/>
                <a:ea typeface="Roboto"/>
                <a:cs typeface="Roboto"/>
                <a:sym typeface="Roboto"/>
              </a:rPr>
              <a:t>Customer_Value</a:t>
            </a:r>
            <a:r>
              <a:rPr lang="en-IN" sz="2133" b="1" dirty="0">
                <a:solidFill>
                  <a:schemeClr val="dk1"/>
                </a:solidFill>
                <a:latin typeface="Roboto"/>
                <a:ea typeface="Roboto"/>
                <a:cs typeface="Roboto"/>
                <a:sym typeface="Roboto"/>
              </a:rPr>
              <a:t>', data=data,</a:t>
            </a:r>
          </a:p>
          <a:p>
            <a:pPr marL="609584" algn="just">
              <a:spcAft>
                <a:spcPts val="1200"/>
              </a:spcAft>
            </a:pPr>
            <a:r>
              <a:rPr lang="en-IN" sz="2133" b="1" dirty="0">
                <a:solidFill>
                  <a:schemeClr val="dk1"/>
                </a:solidFill>
                <a:latin typeface="Roboto"/>
                <a:ea typeface="Roboto"/>
                <a:cs typeface="Roboto"/>
                <a:sym typeface="Roboto"/>
              </a:rPr>
              <a:t>order=['Low', 'Medium', 'High’])</a:t>
            </a:r>
          </a:p>
          <a:p>
            <a:pPr marL="609584" algn="just">
              <a:spcAft>
                <a:spcPts val="1200"/>
              </a:spcAft>
            </a:pPr>
            <a:r>
              <a:rPr lang="en-IN" sz="2133" b="1" dirty="0" err="1">
                <a:solidFill>
                  <a:schemeClr val="dk1"/>
                </a:solidFill>
                <a:latin typeface="Roboto"/>
                <a:ea typeface="Roboto"/>
                <a:cs typeface="Roboto"/>
                <a:sym typeface="Roboto"/>
              </a:rPr>
              <a:t>plt.title</a:t>
            </a:r>
            <a:r>
              <a:rPr lang="en-IN" sz="2133" b="1" dirty="0">
                <a:solidFill>
                  <a:schemeClr val="dk1"/>
                </a:solidFill>
                <a:latin typeface="Roboto"/>
                <a:ea typeface="Roboto"/>
                <a:cs typeface="Roboto"/>
                <a:sym typeface="Roboto"/>
              </a:rPr>
              <a:t>("Customer Value Segments")</a:t>
            </a:r>
          </a:p>
          <a:p>
            <a:pPr marL="609584" algn="just">
              <a:spcAft>
                <a:spcPts val="1200"/>
              </a:spcAft>
            </a:pPr>
            <a:r>
              <a:rPr lang="en-IN" sz="2133" b="1" dirty="0" err="1">
                <a:solidFill>
                  <a:schemeClr val="dk1"/>
                </a:solidFill>
                <a:latin typeface="Roboto"/>
                <a:ea typeface="Roboto"/>
                <a:cs typeface="Roboto"/>
                <a:sym typeface="Roboto"/>
              </a:rPr>
              <a:t>plt.show</a:t>
            </a:r>
            <a:r>
              <a:rPr lang="en-IN" sz="2133" b="1" dirty="0">
                <a:solidFill>
                  <a:schemeClr val="dk1"/>
                </a:solidFill>
                <a:latin typeface="Roboto"/>
                <a:ea typeface="Roboto"/>
                <a:cs typeface="Roboto"/>
                <a:sym typeface="Roboto"/>
              </a:rPr>
              <a:t>()</a:t>
            </a:r>
            <a:endParaRPr sz="2133" b="1"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3" name="Picture 2">
            <a:extLst>
              <a:ext uri="{FF2B5EF4-FFF2-40B4-BE49-F238E27FC236}">
                <a16:creationId xmlns:a16="http://schemas.microsoft.com/office/drawing/2014/main" id="{E87E8721-F819-4830-BB22-0D58743E74E7}"/>
              </a:ext>
            </a:extLst>
          </p:cNvPr>
          <p:cNvPicPr>
            <a:picLocks noChangeAspect="1"/>
          </p:cNvPicPr>
          <p:nvPr/>
        </p:nvPicPr>
        <p:blipFill>
          <a:blip r:embed="rId3"/>
          <a:stretch>
            <a:fillRect/>
          </a:stretch>
        </p:blipFill>
        <p:spPr>
          <a:xfrm>
            <a:off x="6553199" y="1875745"/>
            <a:ext cx="5037801" cy="4236812"/>
          </a:xfrm>
          <a:prstGeom prst="rect">
            <a:avLst/>
          </a:prstGeom>
        </p:spPr>
      </p:pic>
    </p:spTree>
    <p:extLst>
      <p:ext uri="{BB962C8B-B14F-4D97-AF65-F5344CB8AC3E}">
        <p14:creationId xmlns:p14="http://schemas.microsoft.com/office/powerpoint/2010/main" val="3451524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4. Promotion &amp; Loyalty Insights: </a:t>
            </a:r>
            <a:r>
              <a:rPr lang="en-IN" sz="2000" dirty="0">
                <a:solidFill>
                  <a:schemeClr val="dk1"/>
                </a:solidFill>
                <a:latin typeface="Roboto"/>
                <a:ea typeface="Roboto"/>
                <a:cs typeface="Roboto"/>
                <a:sym typeface="Roboto"/>
              </a:rPr>
              <a:t>Customer Value distribution</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1200"/>
              </a:spcAft>
            </a:pPr>
            <a:r>
              <a:rPr lang="en-US" sz="2133" b="1" dirty="0" err="1">
                <a:solidFill>
                  <a:schemeClr val="dk1"/>
                </a:solidFill>
                <a:latin typeface="Roboto"/>
                <a:ea typeface="Roboto"/>
                <a:cs typeface="Roboto"/>
                <a:sym typeface="Roboto"/>
              </a:rPr>
              <a:t>plt.figure</a:t>
            </a:r>
            <a:r>
              <a:rPr lang="en-US" sz="2133" b="1" dirty="0">
                <a:solidFill>
                  <a:schemeClr val="dk1"/>
                </a:solidFill>
                <a:latin typeface="Roboto"/>
                <a:ea typeface="Roboto"/>
                <a:cs typeface="Roboto"/>
                <a:sym typeface="Roboto"/>
              </a:rPr>
              <a:t>(</a:t>
            </a:r>
            <a:r>
              <a:rPr lang="en-US" sz="2133" b="1" dirty="0" err="1">
                <a:solidFill>
                  <a:schemeClr val="dk1"/>
                </a:solidFill>
                <a:latin typeface="Roboto"/>
                <a:ea typeface="Roboto"/>
                <a:cs typeface="Roboto"/>
                <a:sym typeface="Roboto"/>
              </a:rPr>
              <a:t>figsize</a:t>
            </a:r>
            <a:r>
              <a:rPr lang="en-US" sz="2133" b="1" dirty="0">
                <a:solidFill>
                  <a:schemeClr val="dk1"/>
                </a:solidFill>
                <a:latin typeface="Roboto"/>
                <a:ea typeface="Roboto"/>
                <a:cs typeface="Roboto"/>
                <a:sym typeface="Roboto"/>
              </a:rPr>
              <a:t>=(6,4))</a:t>
            </a:r>
          </a:p>
          <a:p>
            <a:pPr marL="609584" algn="just">
              <a:spcAft>
                <a:spcPts val="1200"/>
              </a:spcAft>
            </a:pPr>
            <a:r>
              <a:rPr lang="en-US" sz="2133" b="1" dirty="0" err="1">
                <a:solidFill>
                  <a:schemeClr val="dk1"/>
                </a:solidFill>
                <a:latin typeface="Roboto"/>
                <a:ea typeface="Roboto"/>
                <a:cs typeface="Roboto"/>
                <a:sym typeface="Roboto"/>
              </a:rPr>
              <a:t>sns.countplot</a:t>
            </a:r>
            <a:r>
              <a:rPr lang="en-US" sz="2133" b="1" dirty="0">
                <a:solidFill>
                  <a:schemeClr val="dk1"/>
                </a:solidFill>
                <a:latin typeface="Roboto"/>
                <a:ea typeface="Roboto"/>
                <a:cs typeface="Roboto"/>
                <a:sym typeface="Roboto"/>
              </a:rPr>
              <a:t>(x='</a:t>
            </a:r>
            <a:r>
              <a:rPr lang="en-US" sz="2133" b="1" dirty="0" err="1">
                <a:solidFill>
                  <a:schemeClr val="dk1"/>
                </a:solidFill>
                <a:latin typeface="Roboto"/>
                <a:ea typeface="Roboto"/>
                <a:cs typeface="Roboto"/>
                <a:sym typeface="Roboto"/>
              </a:rPr>
              <a:t>Loyalty_Program</a:t>
            </a:r>
            <a:r>
              <a:rPr lang="en-US" sz="2133" b="1" dirty="0">
                <a:solidFill>
                  <a:schemeClr val="dk1"/>
                </a:solidFill>
                <a:latin typeface="Roboto"/>
                <a:ea typeface="Roboto"/>
                <a:cs typeface="Roboto"/>
                <a:sym typeface="Roboto"/>
              </a:rPr>
              <a:t>’, </a:t>
            </a:r>
          </a:p>
          <a:p>
            <a:pPr marL="609584" algn="just">
              <a:spcAft>
                <a:spcPts val="1200"/>
              </a:spcAft>
            </a:pPr>
            <a:r>
              <a:rPr lang="en-US" sz="2133" b="1" dirty="0">
                <a:solidFill>
                  <a:schemeClr val="dk1"/>
                </a:solidFill>
                <a:latin typeface="Roboto"/>
                <a:ea typeface="Roboto"/>
                <a:cs typeface="Roboto"/>
                <a:sym typeface="Roboto"/>
              </a:rPr>
              <a:t>hue='</a:t>
            </a:r>
            <a:r>
              <a:rPr lang="en-US" sz="2133" b="1" dirty="0" err="1">
                <a:solidFill>
                  <a:schemeClr val="dk1"/>
                </a:solidFill>
                <a:latin typeface="Roboto"/>
                <a:ea typeface="Roboto"/>
                <a:cs typeface="Roboto"/>
                <a:sym typeface="Roboto"/>
              </a:rPr>
              <a:t>Promotional_Response</a:t>
            </a:r>
            <a:r>
              <a:rPr lang="en-US" sz="2133" b="1" dirty="0">
                <a:solidFill>
                  <a:schemeClr val="dk1"/>
                </a:solidFill>
                <a:latin typeface="Roboto"/>
                <a:ea typeface="Roboto"/>
                <a:cs typeface="Roboto"/>
                <a:sym typeface="Roboto"/>
              </a:rPr>
              <a:t>', data=data)</a:t>
            </a:r>
          </a:p>
          <a:p>
            <a:pPr marL="609584" algn="just">
              <a:spcAft>
                <a:spcPts val="1200"/>
              </a:spcAft>
            </a:pPr>
            <a:r>
              <a:rPr lang="en-US" sz="2133" b="1" dirty="0" err="1">
                <a:solidFill>
                  <a:schemeClr val="dk1"/>
                </a:solidFill>
                <a:latin typeface="Roboto"/>
                <a:ea typeface="Roboto"/>
                <a:cs typeface="Roboto"/>
                <a:sym typeface="Roboto"/>
              </a:rPr>
              <a:t>plt.title</a:t>
            </a:r>
            <a:r>
              <a:rPr lang="en-US" b="1" dirty="0">
                <a:solidFill>
                  <a:schemeClr val="dk1"/>
                </a:solidFill>
                <a:latin typeface="Roboto"/>
                <a:ea typeface="Roboto"/>
                <a:cs typeface="Roboto"/>
                <a:sym typeface="Roboto"/>
              </a:rPr>
              <a:t>("Promotional Response vs Loyalty Program"</a:t>
            </a:r>
            <a:r>
              <a:rPr lang="en-US" sz="2133" b="1" dirty="0">
                <a:solidFill>
                  <a:schemeClr val="dk1"/>
                </a:solidFill>
                <a:latin typeface="Roboto"/>
                <a:ea typeface="Roboto"/>
                <a:cs typeface="Roboto"/>
                <a:sym typeface="Roboto"/>
              </a:rPr>
              <a:t>)</a:t>
            </a:r>
          </a:p>
          <a:p>
            <a:pPr marL="609584" algn="just">
              <a:spcAft>
                <a:spcPts val="1200"/>
              </a:spcAft>
            </a:pPr>
            <a:r>
              <a:rPr lang="en-US" sz="2133" b="1" dirty="0" err="1">
                <a:solidFill>
                  <a:schemeClr val="dk1"/>
                </a:solidFill>
                <a:latin typeface="Roboto"/>
                <a:ea typeface="Roboto"/>
                <a:cs typeface="Roboto"/>
                <a:sym typeface="Roboto"/>
              </a:rPr>
              <a:t>plt.show</a:t>
            </a:r>
            <a:r>
              <a:rPr lang="en-US" sz="2133" b="1" dirty="0">
                <a:solidFill>
                  <a:schemeClr val="dk1"/>
                </a:solidFill>
                <a:latin typeface="Roboto"/>
                <a:ea typeface="Roboto"/>
                <a:cs typeface="Roboto"/>
                <a:sym typeface="Roboto"/>
              </a:rPr>
              <a:t>()</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16D6F39B-BCDA-4704-8FA2-47B720AC5941}"/>
              </a:ext>
            </a:extLst>
          </p:cNvPr>
          <p:cNvPicPr>
            <a:picLocks noChangeAspect="1"/>
          </p:cNvPicPr>
          <p:nvPr/>
        </p:nvPicPr>
        <p:blipFill>
          <a:blip r:embed="rId3"/>
          <a:stretch>
            <a:fillRect/>
          </a:stretch>
        </p:blipFill>
        <p:spPr>
          <a:xfrm>
            <a:off x="6540259" y="1907177"/>
            <a:ext cx="5409693" cy="3966282"/>
          </a:xfrm>
          <a:prstGeom prst="rect">
            <a:avLst/>
          </a:prstGeom>
        </p:spPr>
      </p:pic>
    </p:spTree>
    <p:extLst>
      <p:ext uri="{BB962C8B-B14F-4D97-AF65-F5344CB8AC3E}">
        <p14:creationId xmlns:p14="http://schemas.microsoft.com/office/powerpoint/2010/main" val="3859674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4. Promotion &amp; Loyalty Insights:</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err="1">
                <a:solidFill>
                  <a:schemeClr val="dk1"/>
                </a:solidFill>
                <a:latin typeface="Roboto"/>
                <a:ea typeface="Roboto"/>
                <a:cs typeface="Roboto"/>
                <a:sym typeface="Roboto"/>
              </a:rPr>
              <a:t>plt.figure</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figsize</a:t>
            </a:r>
            <a:r>
              <a:rPr lang="en-US" b="1" dirty="0">
                <a:solidFill>
                  <a:schemeClr val="dk1"/>
                </a:solidFill>
                <a:latin typeface="Roboto"/>
                <a:ea typeface="Roboto"/>
                <a:cs typeface="Roboto"/>
                <a:sym typeface="Roboto"/>
              </a:rPr>
              <a:t> = (4,4))</a:t>
            </a:r>
          </a:p>
          <a:p>
            <a:pPr marL="609584" algn="just">
              <a:spcAft>
                <a:spcPts val="600"/>
              </a:spcAft>
            </a:pPr>
            <a:r>
              <a:rPr lang="en-US" b="1" dirty="0">
                <a:solidFill>
                  <a:schemeClr val="dk1"/>
                </a:solidFill>
                <a:latin typeface="Roboto"/>
                <a:ea typeface="Roboto"/>
                <a:cs typeface="Roboto"/>
                <a:sym typeface="Roboto"/>
              </a:rPr>
              <a:t>A = </a:t>
            </a:r>
            <a:r>
              <a:rPr lang="en-US" b="1" dirty="0" err="1">
                <a:solidFill>
                  <a:schemeClr val="dk1"/>
                </a:solidFill>
                <a:latin typeface="Roboto"/>
                <a:ea typeface="Roboto"/>
                <a:cs typeface="Roboto"/>
                <a:sym typeface="Roboto"/>
              </a:rPr>
              <a:t>sns.histplot</a:t>
            </a:r>
            <a:r>
              <a:rPr lang="en-US" b="1" dirty="0">
                <a:solidFill>
                  <a:schemeClr val="dk1"/>
                </a:solidFill>
                <a:latin typeface="Roboto"/>
                <a:ea typeface="Roboto"/>
                <a:cs typeface="Roboto"/>
                <a:sym typeface="Roboto"/>
              </a:rPr>
              <a:t>(data = df , x ='Total_Spend',</a:t>
            </a:r>
            <a:r>
              <a:rPr lang="en-US" b="1" dirty="0" err="1">
                <a:solidFill>
                  <a:schemeClr val="dk1"/>
                </a:solidFill>
                <a:latin typeface="Roboto"/>
                <a:ea typeface="Roboto"/>
                <a:cs typeface="Roboto"/>
                <a:sym typeface="Roboto"/>
              </a:rPr>
              <a:t>kde</a:t>
            </a:r>
            <a:r>
              <a:rPr lang="en-US" b="1" dirty="0">
                <a:solidFill>
                  <a:schemeClr val="dk1"/>
                </a:solidFill>
                <a:latin typeface="Roboto"/>
                <a:ea typeface="Roboto"/>
                <a:cs typeface="Roboto"/>
                <a:sym typeface="Roboto"/>
              </a:rPr>
              <a:t> = True  )</a:t>
            </a:r>
          </a:p>
          <a:p>
            <a:pPr marL="609584" algn="just">
              <a:spcAft>
                <a:spcPts val="600"/>
              </a:spcAft>
            </a:pPr>
            <a:r>
              <a:rPr lang="en-US" b="1" dirty="0">
                <a:solidFill>
                  <a:schemeClr val="dk1"/>
                </a:solidFill>
                <a:latin typeface="Roboto"/>
                <a:ea typeface="Roboto"/>
                <a:cs typeface="Roboto"/>
                <a:sym typeface="Roboto"/>
              </a:rPr>
              <a:t>for </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 in </a:t>
            </a:r>
            <a:r>
              <a:rPr lang="en-US" b="1" dirty="0" err="1">
                <a:solidFill>
                  <a:schemeClr val="dk1"/>
                </a:solidFill>
                <a:latin typeface="Roboto"/>
                <a:ea typeface="Roboto"/>
                <a:cs typeface="Roboto"/>
                <a:sym typeface="Roboto"/>
              </a:rPr>
              <a:t>A.containers</a:t>
            </a:r>
            <a:r>
              <a:rPr lang="en-US" b="1" dirty="0">
                <a:solidFill>
                  <a:schemeClr val="dk1"/>
                </a:solidFill>
                <a:latin typeface="Roboto"/>
                <a:ea typeface="Roboto"/>
                <a:cs typeface="Roboto"/>
                <a:sym typeface="Roboto"/>
              </a:rPr>
              <a:t>:</a:t>
            </a:r>
          </a:p>
          <a:p>
            <a:pPr marL="609584" algn="just">
              <a:spcAft>
                <a:spcPts val="600"/>
              </a:spcAft>
            </a:pPr>
            <a:r>
              <a:rPr lang="en-US" b="1" dirty="0" err="1">
                <a:solidFill>
                  <a:schemeClr val="dk1"/>
                </a:solidFill>
                <a:latin typeface="Roboto"/>
                <a:ea typeface="Roboto"/>
                <a:cs typeface="Roboto"/>
                <a:sym typeface="Roboto"/>
              </a:rPr>
              <a:t>A.bar_label</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i,fontweight</a:t>
            </a:r>
            <a:r>
              <a:rPr lang="en-US" b="1" dirty="0">
                <a:solidFill>
                  <a:schemeClr val="dk1"/>
                </a:solidFill>
                <a:latin typeface="Roboto"/>
                <a:ea typeface="Roboto"/>
                <a:cs typeface="Roboto"/>
                <a:sym typeface="Roboto"/>
              </a:rPr>
              <a:t> = "bold", c = "k")</a:t>
            </a:r>
          </a:p>
          <a:p>
            <a:pPr marL="609584" algn="just">
              <a:spcAft>
                <a:spcPts val="600"/>
              </a:spcAft>
            </a:pPr>
            <a:r>
              <a:rPr lang="en-US" b="1" dirty="0" err="1">
                <a:solidFill>
                  <a:schemeClr val="dk1"/>
                </a:solidFill>
                <a:latin typeface="Roboto"/>
                <a:ea typeface="Roboto"/>
                <a:cs typeface="Roboto"/>
                <a:sym typeface="Roboto"/>
              </a:rPr>
              <a:t>plt.xticks</a:t>
            </a:r>
            <a:r>
              <a:rPr lang="en-US" b="1" dirty="0">
                <a:solidFill>
                  <a:schemeClr val="dk1"/>
                </a:solidFill>
                <a:latin typeface="Roboto"/>
                <a:ea typeface="Roboto"/>
                <a:cs typeface="Roboto"/>
                <a:sym typeface="Roboto"/>
              </a:rPr>
              <a:t>(rotation = 0,fontweight = "bold")    </a:t>
            </a:r>
          </a:p>
          <a:p>
            <a:pPr marL="609584" algn="just">
              <a:spcAft>
                <a:spcPts val="600"/>
              </a:spcAft>
            </a:pPr>
            <a:r>
              <a:rPr lang="en-US" b="1" dirty="0" err="1">
                <a:solidFill>
                  <a:schemeClr val="dk1"/>
                </a:solidFill>
                <a:latin typeface="Roboto"/>
                <a:ea typeface="Roboto"/>
                <a:cs typeface="Roboto"/>
                <a:sym typeface="Roboto"/>
              </a:rPr>
              <a:t>plt.yticks</a:t>
            </a:r>
            <a:r>
              <a:rPr lang="en-US" b="1" dirty="0">
                <a:solidFill>
                  <a:schemeClr val="dk1"/>
                </a:solidFill>
                <a:latin typeface="Roboto"/>
                <a:ea typeface="Roboto"/>
                <a:cs typeface="Roboto"/>
                <a:sym typeface="Roboto"/>
              </a:rPr>
              <a:t>(rotation = 0,fontweight = "bold")   </a:t>
            </a:r>
          </a:p>
          <a:p>
            <a:pPr marL="609584" algn="just">
              <a:spcAft>
                <a:spcPts val="600"/>
              </a:spcAft>
            </a:pPr>
            <a:r>
              <a:rPr lang="en-US" b="1" dirty="0" err="1">
                <a:solidFill>
                  <a:schemeClr val="dk1"/>
                </a:solidFill>
                <a:latin typeface="Roboto"/>
                <a:ea typeface="Roboto"/>
                <a:cs typeface="Roboto"/>
                <a:sym typeface="Roboto"/>
              </a:rPr>
              <a:t>plt.xlabel</a:t>
            </a:r>
            <a:r>
              <a:rPr lang="en-US" b="1" dirty="0">
                <a:solidFill>
                  <a:schemeClr val="dk1"/>
                </a:solidFill>
                <a:latin typeface="Roboto"/>
                <a:ea typeface="Roboto"/>
                <a:cs typeface="Roboto"/>
                <a:sym typeface="Roboto"/>
              </a:rPr>
              <a:t>("Total_ Spend", </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 c = "k")</a:t>
            </a:r>
          </a:p>
          <a:p>
            <a:pPr marL="609584" algn="just">
              <a:spcAft>
                <a:spcPts val="600"/>
              </a:spcAft>
            </a:pPr>
            <a:r>
              <a:rPr lang="en-US" b="1" dirty="0" err="1">
                <a:solidFill>
                  <a:schemeClr val="dk1"/>
                </a:solidFill>
                <a:latin typeface="Roboto"/>
                <a:ea typeface="Roboto"/>
                <a:cs typeface="Roboto"/>
                <a:sym typeface="Roboto"/>
              </a:rPr>
              <a:t>plt.ylabel</a:t>
            </a:r>
            <a:r>
              <a:rPr lang="en-US" b="1" dirty="0">
                <a:solidFill>
                  <a:schemeClr val="dk1"/>
                </a:solidFill>
                <a:latin typeface="Roboto"/>
                <a:ea typeface="Roboto"/>
                <a:cs typeface="Roboto"/>
                <a:sym typeface="Roboto"/>
              </a:rPr>
              <a:t>("Count", </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 c = "k")    </a:t>
            </a:r>
          </a:p>
          <a:p>
            <a:pPr marL="609584" algn="just">
              <a:spcAft>
                <a:spcPts val="600"/>
              </a:spcAft>
            </a:pPr>
            <a:r>
              <a:rPr lang="en-US" b="1" dirty="0" err="1">
                <a:solidFill>
                  <a:schemeClr val="dk1"/>
                </a:solidFill>
                <a:latin typeface="Roboto"/>
                <a:ea typeface="Roboto"/>
                <a:cs typeface="Roboto"/>
                <a:sym typeface="Roboto"/>
              </a:rPr>
              <a:t>plt.show</a:t>
            </a:r>
            <a:r>
              <a:rPr lang="en-US" b="1" dirty="0">
                <a:solidFill>
                  <a:schemeClr val="dk1"/>
                </a:solidFill>
                <a:latin typeface="Roboto"/>
                <a:ea typeface="Roboto"/>
                <a:cs typeface="Roboto"/>
                <a:sym typeface="Roboto"/>
              </a:rPr>
              <a:t>()</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6" name="Picture 5">
            <a:extLst>
              <a:ext uri="{FF2B5EF4-FFF2-40B4-BE49-F238E27FC236}">
                <a16:creationId xmlns:a16="http://schemas.microsoft.com/office/drawing/2014/main" id="{4DA24B9A-8EB8-40D8-AD98-9CD2E1A33404}"/>
              </a:ext>
            </a:extLst>
          </p:cNvPr>
          <p:cNvPicPr>
            <a:picLocks noChangeAspect="1"/>
          </p:cNvPicPr>
          <p:nvPr/>
        </p:nvPicPr>
        <p:blipFill>
          <a:blip r:embed="rId3"/>
          <a:stretch>
            <a:fillRect/>
          </a:stretch>
        </p:blipFill>
        <p:spPr>
          <a:xfrm>
            <a:off x="6768585" y="1766047"/>
            <a:ext cx="4748215" cy="4535745"/>
          </a:xfrm>
          <a:prstGeom prst="rect">
            <a:avLst/>
          </a:prstGeom>
        </p:spPr>
      </p:pic>
    </p:spTree>
    <p:extLst>
      <p:ext uri="{BB962C8B-B14F-4D97-AF65-F5344CB8AC3E}">
        <p14:creationId xmlns:p14="http://schemas.microsoft.com/office/powerpoint/2010/main" val="183820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5. </a:t>
            </a:r>
            <a:r>
              <a:rPr lang="en-US" sz="2400" b="1" dirty="0" err="1"/>
              <a:t>Service_Type</a:t>
            </a:r>
            <a:r>
              <a:rPr lang="en-US" sz="2400" b="1" dirty="0"/>
              <a:t> wise Total Spend by customer</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err="1">
                <a:solidFill>
                  <a:schemeClr val="dk1"/>
                </a:solidFill>
                <a:latin typeface="Roboto"/>
                <a:ea typeface="Roboto"/>
                <a:cs typeface="Roboto"/>
                <a:sym typeface="Roboto"/>
              </a:rPr>
              <a:t>df.groupby</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Service_Type</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Total_Spend</a:t>
            </a:r>
            <a:r>
              <a:rPr lang="en-US" b="1" dirty="0">
                <a:solidFill>
                  <a:schemeClr val="dk1"/>
                </a:solidFill>
                <a:latin typeface="Roboto"/>
                <a:ea typeface="Roboto"/>
                <a:cs typeface="Roboto"/>
                <a:sym typeface="Roboto"/>
              </a:rPr>
              <a:t>'].sum()</a:t>
            </a:r>
          </a:p>
          <a:p>
            <a:pPr marL="609584" algn="just">
              <a:lnSpc>
                <a:spcPct val="150000"/>
              </a:lnSpc>
              <a:spcAft>
                <a:spcPts val="600"/>
              </a:spcAft>
            </a:pPr>
            <a:r>
              <a:rPr lang="en-US" b="1" dirty="0">
                <a:solidFill>
                  <a:schemeClr val="dk1"/>
                </a:solidFill>
                <a:latin typeface="Roboto"/>
                <a:ea typeface="Roboto"/>
                <a:cs typeface="Roboto"/>
                <a:sym typeface="Roboto"/>
              </a:rPr>
              <a:t>.plot(kind="pie",</a:t>
            </a:r>
            <a:r>
              <a:rPr lang="en-US" b="1" dirty="0" err="1">
                <a:solidFill>
                  <a:schemeClr val="dk1"/>
                </a:solidFill>
                <a:latin typeface="Roboto"/>
                <a:ea typeface="Roboto"/>
                <a:cs typeface="Roboto"/>
                <a:sym typeface="Roboto"/>
              </a:rPr>
              <a:t>autopct</a:t>
            </a:r>
            <a:r>
              <a:rPr lang="en-US" b="1" dirty="0">
                <a:solidFill>
                  <a:schemeClr val="dk1"/>
                </a:solidFill>
                <a:latin typeface="Roboto"/>
                <a:ea typeface="Roboto"/>
                <a:cs typeface="Roboto"/>
                <a:sym typeface="Roboto"/>
              </a:rPr>
              <a:t>= "%0.1f%%")</a:t>
            </a:r>
          </a:p>
          <a:p>
            <a:pPr marL="609584" algn="just">
              <a:lnSpc>
                <a:spcPct val="150000"/>
              </a:lnSpc>
              <a:spcAft>
                <a:spcPts val="1200"/>
              </a:spcAft>
            </a:pPr>
            <a:r>
              <a:rPr lang="en-US" b="1" dirty="0" err="1">
                <a:solidFill>
                  <a:schemeClr val="dk1"/>
                </a:solidFill>
                <a:latin typeface="Roboto"/>
                <a:ea typeface="Roboto"/>
                <a:cs typeface="Roboto"/>
                <a:sym typeface="Roboto"/>
              </a:rPr>
              <a:t>plt.title</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Service_Type</a:t>
            </a:r>
            <a:r>
              <a:rPr lang="en-US" b="1" dirty="0">
                <a:solidFill>
                  <a:schemeClr val="dk1"/>
                </a:solidFill>
                <a:latin typeface="Roboto"/>
                <a:ea typeface="Roboto"/>
                <a:cs typeface="Roboto"/>
                <a:sym typeface="Roboto"/>
              </a:rPr>
              <a:t> wise Total Spend by customer")</a:t>
            </a:r>
          </a:p>
          <a:p>
            <a:pPr marL="609584" algn="just">
              <a:spcAft>
                <a:spcPts val="1200"/>
              </a:spcAft>
            </a:pPr>
            <a:r>
              <a:rPr lang="en-US" b="1" dirty="0" err="1">
                <a:solidFill>
                  <a:schemeClr val="dk1"/>
                </a:solidFill>
                <a:latin typeface="Roboto"/>
                <a:ea typeface="Roboto"/>
                <a:cs typeface="Roboto"/>
                <a:sym typeface="Roboto"/>
              </a:rPr>
              <a:t>plt.show</a:t>
            </a:r>
            <a:r>
              <a:rPr lang="en-US" b="1" dirty="0">
                <a:solidFill>
                  <a:schemeClr val="dk1"/>
                </a:solidFill>
                <a:latin typeface="Roboto"/>
                <a:ea typeface="Roboto"/>
                <a:cs typeface="Roboto"/>
                <a:sym typeface="Roboto"/>
              </a:rPr>
              <a:t>()</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3" name="Picture 2">
            <a:extLst>
              <a:ext uri="{FF2B5EF4-FFF2-40B4-BE49-F238E27FC236}">
                <a16:creationId xmlns:a16="http://schemas.microsoft.com/office/drawing/2014/main" id="{C9201A66-52EA-4278-AFA7-2BDC5880CBA6}"/>
              </a:ext>
            </a:extLst>
          </p:cNvPr>
          <p:cNvPicPr>
            <a:picLocks noChangeAspect="1"/>
          </p:cNvPicPr>
          <p:nvPr/>
        </p:nvPicPr>
        <p:blipFill>
          <a:blip r:embed="rId3"/>
          <a:stretch>
            <a:fillRect/>
          </a:stretch>
        </p:blipFill>
        <p:spPr>
          <a:xfrm>
            <a:off x="6733554" y="1974752"/>
            <a:ext cx="4505825" cy="4315246"/>
          </a:xfrm>
          <a:prstGeom prst="rect">
            <a:avLst/>
          </a:prstGeom>
        </p:spPr>
      </p:pic>
    </p:spTree>
    <p:extLst>
      <p:ext uri="{BB962C8B-B14F-4D97-AF65-F5344CB8AC3E}">
        <p14:creationId xmlns:p14="http://schemas.microsoft.com/office/powerpoint/2010/main" val="470002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6. </a:t>
            </a:r>
            <a:r>
              <a:rPr lang="en-US" sz="2400" b="1" dirty="0" err="1"/>
              <a:t>Loyalty_Program</a:t>
            </a:r>
            <a:r>
              <a:rPr lang="en-US" sz="2400" b="1" dirty="0"/>
              <a:t> wise Analysis</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a:solidFill>
                  <a:schemeClr val="dk1"/>
                </a:solidFill>
                <a:latin typeface="Roboto"/>
                <a:ea typeface="Roboto"/>
                <a:cs typeface="Roboto"/>
                <a:sym typeface="Roboto"/>
              </a:rPr>
              <a:t>df["</a:t>
            </a:r>
            <a:r>
              <a:rPr lang="en-US" b="1" dirty="0" err="1">
                <a:solidFill>
                  <a:schemeClr val="dk1"/>
                </a:solidFill>
                <a:latin typeface="Roboto"/>
                <a:ea typeface="Roboto"/>
                <a:cs typeface="Roboto"/>
                <a:sym typeface="Roboto"/>
              </a:rPr>
              <a:t>Loyalty_Program</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value_counts</a:t>
            </a:r>
            <a:r>
              <a:rPr lang="en-US" b="1" dirty="0">
                <a:solidFill>
                  <a:schemeClr val="dk1"/>
                </a:solidFill>
                <a:latin typeface="Roboto"/>
                <a:ea typeface="Roboto"/>
                <a:cs typeface="Roboto"/>
                <a:sym typeface="Roboto"/>
              </a:rPr>
              <a:t>()</a:t>
            </a:r>
          </a:p>
          <a:p>
            <a:pPr marL="609584" algn="just">
              <a:spcAft>
                <a:spcPts val="600"/>
              </a:spcAft>
            </a:pPr>
            <a:r>
              <a:rPr lang="en-US" b="1" dirty="0">
                <a:solidFill>
                  <a:schemeClr val="dk1"/>
                </a:solidFill>
                <a:latin typeface="Roboto"/>
                <a:ea typeface="Roboto"/>
                <a:cs typeface="Roboto"/>
                <a:sym typeface="Roboto"/>
              </a:rPr>
              <a:t>.plot(kind = 'pie', </a:t>
            </a:r>
            <a:r>
              <a:rPr lang="en-US" b="1" dirty="0" err="1">
                <a:solidFill>
                  <a:schemeClr val="dk1"/>
                </a:solidFill>
                <a:latin typeface="Roboto"/>
                <a:ea typeface="Roboto"/>
                <a:cs typeface="Roboto"/>
                <a:sym typeface="Roboto"/>
              </a:rPr>
              <a:t>autopct</a:t>
            </a:r>
            <a:r>
              <a:rPr lang="en-US" b="1" dirty="0">
                <a:solidFill>
                  <a:schemeClr val="dk1"/>
                </a:solidFill>
                <a:latin typeface="Roboto"/>
                <a:ea typeface="Roboto"/>
                <a:cs typeface="Roboto"/>
                <a:sym typeface="Roboto"/>
              </a:rPr>
              <a:t> = '%.0f%%', explode = [0.2,0])</a:t>
            </a:r>
          </a:p>
          <a:p>
            <a:pPr marL="609584" algn="just">
              <a:spcAft>
                <a:spcPts val="600"/>
              </a:spcAft>
            </a:pPr>
            <a:r>
              <a:rPr lang="en-US" b="1" dirty="0" err="1">
                <a:solidFill>
                  <a:schemeClr val="dk1"/>
                </a:solidFill>
                <a:latin typeface="Roboto"/>
                <a:ea typeface="Roboto"/>
                <a:cs typeface="Roboto"/>
                <a:sym typeface="Roboto"/>
              </a:rPr>
              <a:t>plt.title</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Loyalty_Program</a:t>
            </a:r>
            <a:r>
              <a:rPr lang="en-US" b="1" dirty="0">
                <a:solidFill>
                  <a:schemeClr val="dk1"/>
                </a:solidFill>
                <a:latin typeface="Roboto"/>
                <a:ea typeface="Roboto"/>
                <a:cs typeface="Roboto"/>
                <a:sym typeface="Roboto"/>
              </a:rPr>
              <a:t> wise Analysis")</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E1AA9E28-ECED-4D64-BD70-7685F1885418}"/>
              </a:ext>
            </a:extLst>
          </p:cNvPr>
          <p:cNvPicPr>
            <a:picLocks noChangeAspect="1"/>
          </p:cNvPicPr>
          <p:nvPr/>
        </p:nvPicPr>
        <p:blipFill>
          <a:blip r:embed="rId3"/>
          <a:stretch>
            <a:fillRect/>
          </a:stretch>
        </p:blipFill>
        <p:spPr>
          <a:xfrm>
            <a:off x="6638550" y="1120545"/>
            <a:ext cx="5348042" cy="5001960"/>
          </a:xfrm>
          <a:prstGeom prst="rect">
            <a:avLst/>
          </a:prstGeom>
        </p:spPr>
      </p:pic>
    </p:spTree>
    <p:extLst>
      <p:ext uri="{BB962C8B-B14F-4D97-AF65-F5344CB8AC3E}">
        <p14:creationId xmlns:p14="http://schemas.microsoft.com/office/powerpoint/2010/main" val="2953266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8. service Type wise Total Spend</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a:solidFill>
                  <a:schemeClr val="dk1"/>
                </a:solidFill>
                <a:latin typeface="Roboto"/>
                <a:ea typeface="Roboto"/>
                <a:cs typeface="Roboto"/>
                <a:sym typeface="Roboto"/>
              </a:rPr>
              <a:t>A = </a:t>
            </a:r>
            <a:r>
              <a:rPr lang="en-US" b="1" dirty="0" err="1">
                <a:solidFill>
                  <a:schemeClr val="dk1"/>
                </a:solidFill>
                <a:latin typeface="Roboto"/>
                <a:ea typeface="Roboto"/>
                <a:cs typeface="Roboto"/>
                <a:sym typeface="Roboto"/>
              </a:rPr>
              <a:t>sns.barplot</a:t>
            </a:r>
            <a:r>
              <a:rPr lang="en-US" b="1" dirty="0">
                <a:solidFill>
                  <a:schemeClr val="dk1"/>
                </a:solidFill>
                <a:latin typeface="Roboto"/>
                <a:ea typeface="Roboto"/>
                <a:cs typeface="Roboto"/>
                <a:sym typeface="Roboto"/>
              </a:rPr>
              <a:t>(data = df , x = '</a:t>
            </a:r>
            <a:r>
              <a:rPr lang="en-US" b="1" dirty="0" err="1">
                <a:solidFill>
                  <a:schemeClr val="dk1"/>
                </a:solidFill>
                <a:latin typeface="Roboto"/>
                <a:ea typeface="Roboto"/>
                <a:cs typeface="Roboto"/>
                <a:sym typeface="Roboto"/>
              </a:rPr>
              <a:t>Service_Type</a:t>
            </a:r>
            <a:r>
              <a:rPr lang="en-US" b="1" dirty="0">
                <a:solidFill>
                  <a:schemeClr val="dk1"/>
                </a:solidFill>
                <a:latin typeface="Roboto"/>
                <a:ea typeface="Roboto"/>
                <a:cs typeface="Roboto"/>
                <a:sym typeface="Roboto"/>
              </a:rPr>
              <a:t>’,</a:t>
            </a:r>
          </a:p>
          <a:p>
            <a:pPr marL="609584" algn="just">
              <a:spcAft>
                <a:spcPts val="600"/>
              </a:spcAft>
            </a:pPr>
            <a:r>
              <a:rPr lang="en-US" b="1" dirty="0">
                <a:solidFill>
                  <a:schemeClr val="dk1"/>
                </a:solidFill>
                <a:latin typeface="Roboto"/>
                <a:ea typeface="Roboto"/>
                <a:cs typeface="Roboto"/>
                <a:sym typeface="Roboto"/>
              </a:rPr>
              <a:t>y =  '</a:t>
            </a:r>
            <a:r>
              <a:rPr lang="en-US" b="1" dirty="0" err="1">
                <a:solidFill>
                  <a:schemeClr val="dk1"/>
                </a:solidFill>
                <a:latin typeface="Roboto"/>
                <a:ea typeface="Roboto"/>
                <a:cs typeface="Roboto"/>
                <a:sym typeface="Roboto"/>
              </a:rPr>
              <a:t>Total_Spend</a:t>
            </a:r>
            <a:r>
              <a:rPr lang="en-US" b="1" dirty="0">
                <a:solidFill>
                  <a:schemeClr val="dk1"/>
                </a:solidFill>
                <a:latin typeface="Roboto"/>
                <a:ea typeface="Roboto"/>
                <a:cs typeface="Roboto"/>
                <a:sym typeface="Roboto"/>
              </a:rPr>
              <a:t>' , estimator='sum’)</a:t>
            </a:r>
          </a:p>
          <a:p>
            <a:pPr marL="609584" algn="just">
              <a:spcAft>
                <a:spcPts val="600"/>
              </a:spcAft>
            </a:pPr>
            <a:r>
              <a:rPr lang="en-US" b="1" dirty="0">
                <a:solidFill>
                  <a:schemeClr val="dk1"/>
                </a:solidFill>
                <a:latin typeface="Roboto"/>
                <a:ea typeface="Roboto"/>
                <a:cs typeface="Roboto"/>
                <a:sym typeface="Roboto"/>
              </a:rPr>
              <a:t>for </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 in </a:t>
            </a:r>
            <a:r>
              <a:rPr lang="en-US" b="1" dirty="0" err="1">
                <a:solidFill>
                  <a:schemeClr val="dk1"/>
                </a:solidFill>
                <a:latin typeface="Roboto"/>
                <a:ea typeface="Roboto"/>
                <a:cs typeface="Roboto"/>
                <a:sym typeface="Roboto"/>
              </a:rPr>
              <a:t>A.containers</a:t>
            </a:r>
            <a:r>
              <a:rPr lang="en-US" b="1" dirty="0">
                <a:solidFill>
                  <a:schemeClr val="dk1"/>
                </a:solidFill>
                <a:latin typeface="Roboto"/>
                <a:ea typeface="Roboto"/>
                <a:cs typeface="Roboto"/>
                <a:sym typeface="Roboto"/>
              </a:rPr>
              <a:t>:</a:t>
            </a:r>
          </a:p>
          <a:p>
            <a:pPr marL="609584" algn="just">
              <a:spcAft>
                <a:spcPts val="600"/>
              </a:spcAft>
            </a:pPr>
            <a:r>
              <a:rPr lang="en-US" b="1" dirty="0" err="1">
                <a:solidFill>
                  <a:schemeClr val="dk1"/>
                </a:solidFill>
                <a:latin typeface="Roboto"/>
                <a:ea typeface="Roboto"/>
                <a:cs typeface="Roboto"/>
                <a:sym typeface="Roboto"/>
              </a:rPr>
              <a:t>A.bar_label</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    </a:t>
            </a:r>
          </a:p>
          <a:p>
            <a:pPr marL="609584" algn="just">
              <a:spcAft>
                <a:spcPts val="600"/>
              </a:spcAft>
            </a:pPr>
            <a:r>
              <a:rPr lang="en-US" b="1" dirty="0" err="1">
                <a:solidFill>
                  <a:schemeClr val="dk1"/>
                </a:solidFill>
                <a:latin typeface="Roboto"/>
                <a:ea typeface="Roboto"/>
                <a:cs typeface="Roboto"/>
                <a:sym typeface="Roboto"/>
              </a:rPr>
              <a:t>plt.title</a:t>
            </a:r>
            <a:r>
              <a:rPr lang="en-US" b="1" dirty="0">
                <a:solidFill>
                  <a:schemeClr val="dk1"/>
                </a:solidFill>
                <a:latin typeface="Roboto"/>
                <a:ea typeface="Roboto"/>
                <a:cs typeface="Roboto"/>
                <a:sym typeface="Roboto"/>
              </a:rPr>
              <a:t>("service Type wise Total Spend “</a:t>
            </a:r>
          </a:p>
          <a:p>
            <a:pPr marL="609584" algn="just">
              <a:spcAft>
                <a:spcPts val="600"/>
              </a:spcAft>
            </a:pP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6" name="Picture 5">
            <a:extLst>
              <a:ext uri="{FF2B5EF4-FFF2-40B4-BE49-F238E27FC236}">
                <a16:creationId xmlns:a16="http://schemas.microsoft.com/office/drawing/2014/main" id="{52895E41-7C39-4AC0-A0E5-32BA76F8E6F1}"/>
              </a:ext>
            </a:extLst>
          </p:cNvPr>
          <p:cNvPicPr>
            <a:picLocks noChangeAspect="1"/>
          </p:cNvPicPr>
          <p:nvPr/>
        </p:nvPicPr>
        <p:blipFill>
          <a:blip r:embed="rId3"/>
          <a:stretch>
            <a:fillRect/>
          </a:stretch>
        </p:blipFill>
        <p:spPr>
          <a:xfrm>
            <a:off x="6096000" y="1430789"/>
            <a:ext cx="5643872" cy="4314454"/>
          </a:xfrm>
          <a:prstGeom prst="rect">
            <a:avLst/>
          </a:prstGeom>
        </p:spPr>
      </p:pic>
    </p:spTree>
    <p:extLst>
      <p:ext uri="{BB962C8B-B14F-4D97-AF65-F5344CB8AC3E}">
        <p14:creationId xmlns:p14="http://schemas.microsoft.com/office/powerpoint/2010/main" val="1505758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9. </a:t>
            </a:r>
            <a:r>
              <a:rPr lang="en-US" sz="2400" b="1" dirty="0" err="1"/>
              <a:t>Visit_Frequency_Group</a:t>
            </a:r>
            <a:r>
              <a:rPr lang="en-US" sz="2400" b="1" dirty="0"/>
              <a:t> wise Total Spend</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a:solidFill>
                  <a:schemeClr val="dk1"/>
                </a:solidFill>
                <a:latin typeface="Roboto"/>
                <a:ea typeface="Roboto"/>
                <a:cs typeface="Roboto"/>
                <a:sym typeface="Roboto"/>
              </a:rPr>
              <a:t>explode=[0.2,0,0]</a:t>
            </a:r>
          </a:p>
          <a:p>
            <a:pPr marL="609584" algn="just">
              <a:spcAft>
                <a:spcPts val="600"/>
              </a:spcAft>
            </a:pPr>
            <a:r>
              <a:rPr lang="en-US" b="1" dirty="0" err="1">
                <a:solidFill>
                  <a:schemeClr val="dk1"/>
                </a:solidFill>
                <a:latin typeface="Roboto"/>
                <a:ea typeface="Roboto"/>
                <a:cs typeface="Roboto"/>
                <a:sym typeface="Roboto"/>
              </a:rPr>
              <a:t>df.groupby</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Visit_Frequency_Group</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Total_Spend</a:t>
            </a:r>
            <a:r>
              <a:rPr lang="en-US" b="1" dirty="0">
                <a:solidFill>
                  <a:schemeClr val="dk1"/>
                </a:solidFill>
                <a:latin typeface="Roboto"/>
                <a:ea typeface="Roboto"/>
                <a:cs typeface="Roboto"/>
                <a:sym typeface="Roboto"/>
              </a:rPr>
              <a:t>"]</a:t>
            </a:r>
          </a:p>
          <a:p>
            <a:pPr marL="609584" algn="just">
              <a:spcAft>
                <a:spcPts val="600"/>
              </a:spcAft>
            </a:pPr>
            <a:r>
              <a:rPr lang="en-US" b="1" dirty="0">
                <a:solidFill>
                  <a:schemeClr val="dk1"/>
                </a:solidFill>
                <a:latin typeface="Roboto"/>
                <a:ea typeface="Roboto"/>
                <a:cs typeface="Roboto"/>
                <a:sym typeface="Roboto"/>
              </a:rPr>
              <a:t>.sum().</a:t>
            </a:r>
            <a:r>
              <a:rPr lang="en-US" b="1" dirty="0" err="1">
                <a:solidFill>
                  <a:schemeClr val="dk1"/>
                </a:solidFill>
                <a:latin typeface="Roboto"/>
                <a:ea typeface="Roboto"/>
                <a:cs typeface="Roboto"/>
                <a:sym typeface="Roboto"/>
              </a:rPr>
              <a:t>sort_values</a:t>
            </a:r>
            <a:r>
              <a:rPr lang="en-US" b="1" dirty="0">
                <a:solidFill>
                  <a:schemeClr val="dk1"/>
                </a:solidFill>
                <a:latin typeface="Roboto"/>
                <a:ea typeface="Roboto"/>
                <a:cs typeface="Roboto"/>
                <a:sym typeface="Roboto"/>
              </a:rPr>
              <a:t>(ascending = False )</a:t>
            </a:r>
          </a:p>
          <a:p>
            <a:pPr marL="609584" algn="just">
              <a:spcAft>
                <a:spcPts val="600"/>
              </a:spcAft>
            </a:pPr>
            <a:r>
              <a:rPr lang="en-US" b="1" dirty="0">
                <a:solidFill>
                  <a:schemeClr val="dk1"/>
                </a:solidFill>
                <a:latin typeface="Roboto"/>
                <a:ea typeface="Roboto"/>
                <a:cs typeface="Roboto"/>
                <a:sym typeface="Roboto"/>
              </a:rPr>
              <a:t>.plot(kind = '</a:t>
            </a:r>
            <a:r>
              <a:rPr lang="en-US" b="1" dirty="0" err="1">
                <a:solidFill>
                  <a:schemeClr val="dk1"/>
                </a:solidFill>
                <a:latin typeface="Roboto"/>
                <a:ea typeface="Roboto"/>
                <a:cs typeface="Roboto"/>
                <a:sym typeface="Roboto"/>
              </a:rPr>
              <a:t>pie',explode</a:t>
            </a:r>
            <a:r>
              <a:rPr lang="en-US" b="1" dirty="0">
                <a:solidFill>
                  <a:schemeClr val="dk1"/>
                </a:solidFill>
                <a:latin typeface="Roboto"/>
                <a:ea typeface="Roboto"/>
                <a:cs typeface="Roboto"/>
                <a:sym typeface="Roboto"/>
              </a:rPr>
              <a:t> = explode , </a:t>
            </a:r>
          </a:p>
          <a:p>
            <a:pPr marL="609584" algn="just">
              <a:spcAft>
                <a:spcPts val="600"/>
              </a:spcAft>
            </a:pPr>
            <a:r>
              <a:rPr lang="en-US" b="1" dirty="0" err="1">
                <a:solidFill>
                  <a:schemeClr val="dk1"/>
                </a:solidFill>
                <a:latin typeface="Roboto"/>
                <a:ea typeface="Roboto"/>
                <a:cs typeface="Roboto"/>
                <a:sym typeface="Roboto"/>
              </a:rPr>
              <a:t>startangle</a:t>
            </a:r>
            <a:r>
              <a:rPr lang="en-US" b="1" dirty="0">
                <a:solidFill>
                  <a:schemeClr val="dk1"/>
                </a:solidFill>
                <a:latin typeface="Roboto"/>
                <a:ea typeface="Roboto"/>
                <a:cs typeface="Roboto"/>
                <a:sym typeface="Roboto"/>
              </a:rPr>
              <a:t>=90, </a:t>
            </a:r>
            <a:r>
              <a:rPr lang="en-US" b="1" dirty="0" err="1">
                <a:solidFill>
                  <a:schemeClr val="dk1"/>
                </a:solidFill>
                <a:latin typeface="Roboto"/>
                <a:ea typeface="Roboto"/>
                <a:cs typeface="Roboto"/>
                <a:sym typeface="Roboto"/>
              </a:rPr>
              <a:t>autopct</a:t>
            </a:r>
            <a:r>
              <a:rPr lang="en-US" b="1" dirty="0">
                <a:solidFill>
                  <a:schemeClr val="dk1"/>
                </a:solidFill>
                <a:latin typeface="Roboto"/>
                <a:ea typeface="Roboto"/>
                <a:cs typeface="Roboto"/>
                <a:sym typeface="Roboto"/>
              </a:rPr>
              <a:t> = "%.0f%%")</a:t>
            </a:r>
          </a:p>
          <a:p>
            <a:pPr marL="609584" algn="just">
              <a:spcAft>
                <a:spcPts val="600"/>
              </a:spcAft>
            </a:pPr>
            <a:r>
              <a:rPr lang="en-US" b="1" dirty="0" err="1">
                <a:solidFill>
                  <a:schemeClr val="dk1"/>
                </a:solidFill>
                <a:latin typeface="Roboto"/>
                <a:ea typeface="Roboto"/>
                <a:cs typeface="Roboto"/>
                <a:sym typeface="Roboto"/>
              </a:rPr>
              <a:t>plt.title</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Visit_Frequency_Group</a:t>
            </a:r>
            <a:r>
              <a:rPr lang="en-US" b="1" dirty="0">
                <a:solidFill>
                  <a:schemeClr val="dk1"/>
                </a:solidFill>
                <a:latin typeface="Roboto"/>
                <a:ea typeface="Roboto"/>
                <a:cs typeface="Roboto"/>
                <a:sym typeface="Roboto"/>
              </a:rPr>
              <a:t> wise Total Spend “</a:t>
            </a:r>
          </a:p>
          <a:p>
            <a:pPr marL="609584" algn="just">
              <a:spcAft>
                <a:spcPts val="600"/>
              </a:spcAft>
            </a:pPr>
            <a:r>
              <a:rPr lang="en-US" b="1" dirty="0">
                <a:solidFill>
                  <a:schemeClr val="dk1"/>
                </a:solidFill>
                <a:latin typeface="Roboto"/>
                <a:ea typeface="Roboto"/>
                <a:cs typeface="Roboto"/>
                <a:sym typeface="Roboto"/>
              </a:rPr>
              <a:t>, </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a:t>
            </a:r>
          </a:p>
          <a:p>
            <a:pPr marL="609584" algn="just">
              <a:spcAft>
                <a:spcPts val="600"/>
              </a:spcAft>
            </a:pPr>
            <a:r>
              <a:rPr lang="en-US" b="1" dirty="0" err="1">
                <a:solidFill>
                  <a:schemeClr val="dk1"/>
                </a:solidFill>
                <a:latin typeface="Roboto"/>
                <a:ea typeface="Roboto"/>
                <a:cs typeface="Roboto"/>
                <a:sym typeface="Roboto"/>
              </a:rPr>
              <a:t>plt.show</a:t>
            </a:r>
            <a:r>
              <a:rPr lang="en-US" b="1" dirty="0">
                <a:solidFill>
                  <a:schemeClr val="dk1"/>
                </a:solidFill>
                <a:latin typeface="Roboto"/>
                <a:ea typeface="Roboto"/>
                <a:cs typeface="Roboto"/>
                <a:sym typeface="Roboto"/>
              </a:rPr>
              <a:t>()</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629B532A-5D8D-4C21-A00C-6B72EBAC592E}"/>
              </a:ext>
            </a:extLst>
          </p:cNvPr>
          <p:cNvPicPr>
            <a:picLocks noChangeAspect="1"/>
          </p:cNvPicPr>
          <p:nvPr/>
        </p:nvPicPr>
        <p:blipFill>
          <a:blip r:embed="rId3"/>
          <a:stretch>
            <a:fillRect/>
          </a:stretch>
        </p:blipFill>
        <p:spPr>
          <a:xfrm>
            <a:off x="6423949" y="2468115"/>
            <a:ext cx="5539740" cy="3306606"/>
          </a:xfrm>
          <a:prstGeom prst="rect">
            <a:avLst/>
          </a:prstGeom>
        </p:spPr>
      </p:pic>
    </p:spTree>
    <p:extLst>
      <p:ext uri="{BB962C8B-B14F-4D97-AF65-F5344CB8AC3E}">
        <p14:creationId xmlns:p14="http://schemas.microsoft.com/office/powerpoint/2010/main" val="2167515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10. Gender wise </a:t>
            </a:r>
            <a:r>
              <a:rPr lang="en-US" sz="2400" b="1" dirty="0" err="1"/>
              <a:t>Promotional_Response</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a:solidFill>
                  <a:schemeClr val="dk1"/>
                </a:solidFill>
                <a:latin typeface="Roboto"/>
                <a:ea typeface="Roboto"/>
                <a:cs typeface="Roboto"/>
                <a:sym typeface="Roboto"/>
              </a:rPr>
              <a:t>A=</a:t>
            </a:r>
            <a:r>
              <a:rPr lang="en-US" b="1" dirty="0" err="1">
                <a:solidFill>
                  <a:schemeClr val="dk1"/>
                </a:solidFill>
                <a:latin typeface="Roboto"/>
                <a:ea typeface="Roboto"/>
                <a:cs typeface="Roboto"/>
                <a:sym typeface="Roboto"/>
              </a:rPr>
              <a:t>sns.countplot</a:t>
            </a:r>
            <a:r>
              <a:rPr lang="en-US" b="1" dirty="0">
                <a:solidFill>
                  <a:schemeClr val="dk1"/>
                </a:solidFill>
                <a:latin typeface="Roboto"/>
                <a:ea typeface="Roboto"/>
                <a:cs typeface="Roboto"/>
                <a:sym typeface="Roboto"/>
              </a:rPr>
              <a:t>(data=df,</a:t>
            </a:r>
          </a:p>
          <a:p>
            <a:pPr marL="609584" algn="just">
              <a:spcAft>
                <a:spcPts val="600"/>
              </a:spcAft>
            </a:pPr>
            <a:r>
              <a:rPr lang="en-US" b="1" dirty="0">
                <a:solidFill>
                  <a:schemeClr val="dk1"/>
                </a:solidFill>
                <a:latin typeface="Roboto"/>
                <a:ea typeface="Roboto"/>
                <a:cs typeface="Roboto"/>
                <a:sym typeface="Roboto"/>
              </a:rPr>
              <a:t>x="</a:t>
            </a:r>
            <a:r>
              <a:rPr lang="en-US" b="1" dirty="0" err="1">
                <a:solidFill>
                  <a:schemeClr val="dk1"/>
                </a:solidFill>
                <a:latin typeface="Roboto"/>
                <a:ea typeface="Roboto"/>
                <a:cs typeface="Roboto"/>
                <a:sym typeface="Roboto"/>
              </a:rPr>
              <a:t>Promotional_Response</a:t>
            </a:r>
            <a:r>
              <a:rPr lang="en-US" b="1" dirty="0">
                <a:solidFill>
                  <a:schemeClr val="dk1"/>
                </a:solidFill>
                <a:latin typeface="Roboto"/>
                <a:ea typeface="Roboto"/>
                <a:cs typeface="Roboto"/>
                <a:sym typeface="Roboto"/>
              </a:rPr>
              <a:t>“</a:t>
            </a:r>
          </a:p>
          <a:p>
            <a:pPr marL="609584" algn="just">
              <a:spcAft>
                <a:spcPts val="600"/>
              </a:spcAft>
            </a:pPr>
            <a:r>
              <a:rPr lang="en-US" b="1" dirty="0">
                <a:solidFill>
                  <a:schemeClr val="dk1"/>
                </a:solidFill>
                <a:latin typeface="Roboto"/>
                <a:ea typeface="Roboto"/>
                <a:cs typeface="Roboto"/>
                <a:sym typeface="Roboto"/>
              </a:rPr>
              <a:t>,hue = "Gender" )</a:t>
            </a:r>
          </a:p>
          <a:p>
            <a:pPr marL="609584" algn="just">
              <a:spcAft>
                <a:spcPts val="600"/>
              </a:spcAft>
            </a:pPr>
            <a:r>
              <a:rPr lang="en-US" b="1" dirty="0">
                <a:solidFill>
                  <a:schemeClr val="dk1"/>
                </a:solidFill>
                <a:latin typeface="Roboto"/>
                <a:ea typeface="Roboto"/>
                <a:cs typeface="Roboto"/>
                <a:sym typeface="Roboto"/>
              </a:rPr>
              <a:t>for </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 in </a:t>
            </a:r>
            <a:r>
              <a:rPr lang="en-US" b="1" dirty="0" err="1">
                <a:solidFill>
                  <a:schemeClr val="dk1"/>
                </a:solidFill>
                <a:latin typeface="Roboto"/>
                <a:ea typeface="Roboto"/>
                <a:cs typeface="Roboto"/>
                <a:sym typeface="Roboto"/>
              </a:rPr>
              <a:t>A.containers</a:t>
            </a:r>
            <a:r>
              <a:rPr lang="en-US" b="1" dirty="0">
                <a:solidFill>
                  <a:schemeClr val="dk1"/>
                </a:solidFill>
                <a:latin typeface="Roboto"/>
                <a:ea typeface="Roboto"/>
                <a:cs typeface="Roboto"/>
                <a:sym typeface="Roboto"/>
              </a:rPr>
              <a:t>:</a:t>
            </a:r>
          </a:p>
          <a:p>
            <a:pPr marL="609584" algn="just">
              <a:spcAft>
                <a:spcPts val="600"/>
              </a:spcAft>
            </a:pPr>
            <a:r>
              <a:rPr lang="en-US" b="1" dirty="0" err="1">
                <a:solidFill>
                  <a:schemeClr val="dk1"/>
                </a:solidFill>
                <a:latin typeface="Roboto"/>
                <a:ea typeface="Roboto"/>
                <a:cs typeface="Roboto"/>
                <a:sym typeface="Roboto"/>
              </a:rPr>
              <a:t>A.bar_label</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FC5B3CB0-724D-4749-B11F-513320EFEA18}"/>
              </a:ext>
            </a:extLst>
          </p:cNvPr>
          <p:cNvPicPr>
            <a:picLocks noChangeAspect="1"/>
          </p:cNvPicPr>
          <p:nvPr/>
        </p:nvPicPr>
        <p:blipFill>
          <a:blip r:embed="rId3"/>
          <a:stretch>
            <a:fillRect/>
          </a:stretch>
        </p:blipFill>
        <p:spPr>
          <a:xfrm>
            <a:off x="4606724" y="1783148"/>
            <a:ext cx="7060558" cy="4373706"/>
          </a:xfrm>
          <a:prstGeom prst="rect">
            <a:avLst/>
          </a:prstGeom>
        </p:spPr>
      </p:pic>
    </p:spTree>
    <p:extLst>
      <p:ext uri="{BB962C8B-B14F-4D97-AF65-F5344CB8AC3E}">
        <p14:creationId xmlns:p14="http://schemas.microsoft.com/office/powerpoint/2010/main" val="429367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8DC33C1-A591-4C67-B273-68E950DDABC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BE491CD-22A2-F3C4-D9CD-BDC15E693396}"/>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endParaRPr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endParaRPr>
          </a:p>
        </p:txBody>
      </p:sp>
      <p:sp>
        <p:nvSpPr>
          <p:cNvPr id="392" name="Google Shape;392;p19">
            <a:extLst>
              <a:ext uri="{FF2B5EF4-FFF2-40B4-BE49-F238E27FC236}">
                <a16:creationId xmlns:a16="http://schemas.microsoft.com/office/drawing/2014/main" id="{180F5953-9F07-9B62-7E69-CDABE96C2F44}"/>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4" algn="just">
              <a:spcAft>
                <a:spcPts val="2133"/>
              </a:spcAft>
            </a:pPr>
            <a:r>
              <a:rPr lang="en-US" sz="2400" b="1" dirty="0"/>
              <a:t>11. Age group wise total Revenue</a:t>
            </a:r>
            <a:endParaRPr lang="en-US" sz="2400" dirty="0"/>
          </a:p>
          <a:p>
            <a:pPr marL="609584" algn="just">
              <a:spcAft>
                <a:spcPts val="2133"/>
              </a:spcAft>
            </a:pPr>
            <a:r>
              <a:rPr lang="en-US" sz="2133" dirty="0">
                <a:solidFill>
                  <a:schemeClr val="dk1"/>
                </a:solidFill>
                <a:latin typeface="Roboto"/>
                <a:ea typeface="Roboto"/>
                <a:cs typeface="Roboto"/>
                <a:sym typeface="Roboto"/>
              </a:rPr>
              <a:t> </a:t>
            </a:r>
            <a:r>
              <a:rPr lang="en-US" sz="2133" b="1" dirty="0">
                <a:solidFill>
                  <a:schemeClr val="dk1"/>
                </a:solidFill>
                <a:latin typeface="Roboto"/>
                <a:ea typeface="Roboto"/>
                <a:cs typeface="Roboto"/>
                <a:sym typeface="Roboto"/>
              </a:rPr>
              <a:t>Code :</a:t>
            </a:r>
          </a:p>
          <a:p>
            <a:pPr marL="609584" algn="just">
              <a:spcAft>
                <a:spcPts val="600"/>
              </a:spcAft>
            </a:pPr>
            <a:r>
              <a:rPr lang="en-US" b="1" dirty="0">
                <a:solidFill>
                  <a:schemeClr val="dk1"/>
                </a:solidFill>
                <a:latin typeface="Roboto"/>
                <a:ea typeface="Roboto"/>
                <a:cs typeface="Roboto"/>
                <a:sym typeface="Roboto"/>
              </a:rPr>
              <a:t>v = </a:t>
            </a:r>
            <a:r>
              <a:rPr lang="en-US" b="1" dirty="0" err="1">
                <a:solidFill>
                  <a:schemeClr val="dk1"/>
                </a:solidFill>
                <a:latin typeface="Roboto"/>
                <a:ea typeface="Roboto"/>
                <a:cs typeface="Roboto"/>
                <a:sym typeface="Roboto"/>
              </a:rPr>
              <a:t>df.groupby</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Age_Group</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Total_Spend</a:t>
            </a:r>
            <a:r>
              <a:rPr lang="en-US" b="1" dirty="0">
                <a:solidFill>
                  <a:schemeClr val="dk1"/>
                </a:solidFill>
                <a:latin typeface="Roboto"/>
                <a:ea typeface="Roboto"/>
                <a:cs typeface="Roboto"/>
                <a:sym typeface="Roboto"/>
              </a:rPr>
              <a:t>.</a:t>
            </a:r>
          </a:p>
          <a:p>
            <a:pPr marL="609584" algn="just">
              <a:spcAft>
                <a:spcPts val="600"/>
              </a:spcAft>
            </a:pPr>
            <a:r>
              <a:rPr lang="en-US" b="1" dirty="0">
                <a:solidFill>
                  <a:schemeClr val="dk1"/>
                </a:solidFill>
                <a:latin typeface="Roboto"/>
                <a:ea typeface="Roboto"/>
                <a:cs typeface="Roboto"/>
                <a:sym typeface="Roboto"/>
              </a:rPr>
              <a:t>sum().plot(kind = "bar")</a:t>
            </a:r>
          </a:p>
          <a:p>
            <a:pPr marL="609584" algn="just">
              <a:spcAft>
                <a:spcPts val="600"/>
              </a:spcAft>
            </a:pPr>
            <a:r>
              <a:rPr lang="en-US" b="1" dirty="0">
                <a:solidFill>
                  <a:schemeClr val="dk1"/>
                </a:solidFill>
                <a:latin typeface="Roboto"/>
                <a:ea typeface="Roboto"/>
                <a:cs typeface="Roboto"/>
                <a:sym typeface="Roboto"/>
              </a:rPr>
              <a:t>for </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 in </a:t>
            </a:r>
            <a:r>
              <a:rPr lang="en-US" b="1" dirty="0" err="1">
                <a:solidFill>
                  <a:schemeClr val="dk1"/>
                </a:solidFill>
                <a:latin typeface="Roboto"/>
                <a:ea typeface="Roboto"/>
                <a:cs typeface="Roboto"/>
                <a:sym typeface="Roboto"/>
              </a:rPr>
              <a:t>v.containers</a:t>
            </a:r>
            <a:r>
              <a:rPr lang="en-US" b="1" dirty="0">
                <a:solidFill>
                  <a:schemeClr val="dk1"/>
                </a:solidFill>
                <a:latin typeface="Roboto"/>
                <a:ea typeface="Roboto"/>
                <a:cs typeface="Roboto"/>
                <a:sym typeface="Roboto"/>
              </a:rPr>
              <a:t>: </a:t>
            </a:r>
          </a:p>
          <a:p>
            <a:pPr marL="609584" algn="just">
              <a:spcAft>
                <a:spcPts val="600"/>
              </a:spcAft>
            </a:pPr>
            <a:r>
              <a:rPr lang="en-US" b="1" dirty="0" err="1">
                <a:solidFill>
                  <a:schemeClr val="dk1"/>
                </a:solidFill>
                <a:latin typeface="Roboto"/>
                <a:ea typeface="Roboto"/>
                <a:cs typeface="Roboto"/>
                <a:sym typeface="Roboto"/>
              </a:rPr>
              <a:t>v.bar_label</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i</a:t>
            </a:r>
            <a:r>
              <a:rPr lang="en-US" b="1" dirty="0">
                <a:solidFill>
                  <a:schemeClr val="dk1"/>
                </a:solidFill>
                <a:latin typeface="Roboto"/>
                <a:ea typeface="Roboto"/>
                <a:cs typeface="Roboto"/>
                <a:sym typeface="Roboto"/>
              </a:rPr>
              <a:t>, </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='bold’)</a:t>
            </a:r>
          </a:p>
          <a:p>
            <a:pPr marL="609584" algn="just">
              <a:spcAft>
                <a:spcPts val="600"/>
              </a:spcAft>
            </a:pPr>
            <a:r>
              <a:rPr lang="en-US" b="1" dirty="0" err="1">
                <a:solidFill>
                  <a:schemeClr val="dk1"/>
                </a:solidFill>
                <a:latin typeface="Roboto"/>
                <a:ea typeface="Roboto"/>
                <a:cs typeface="Roboto"/>
                <a:sym typeface="Roboto"/>
              </a:rPr>
              <a:t>plt.title</a:t>
            </a:r>
            <a:r>
              <a:rPr lang="en-US" b="1" dirty="0">
                <a:solidFill>
                  <a:schemeClr val="dk1"/>
                </a:solidFill>
                <a:latin typeface="Roboto"/>
                <a:ea typeface="Roboto"/>
                <a:cs typeface="Roboto"/>
                <a:sym typeface="Roboto"/>
              </a:rPr>
              <a:t>("Age group wise total Revenue",</a:t>
            </a:r>
          </a:p>
          <a:p>
            <a:pPr marL="609584" algn="just">
              <a:spcAft>
                <a:spcPts val="600"/>
              </a:spcAft>
            </a:pP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a:t>
            </a:r>
          </a:p>
          <a:p>
            <a:pPr marL="609584" algn="just">
              <a:spcAft>
                <a:spcPts val="600"/>
              </a:spcAft>
            </a:pPr>
            <a:r>
              <a:rPr lang="en-US" b="1" dirty="0" err="1">
                <a:solidFill>
                  <a:schemeClr val="dk1"/>
                </a:solidFill>
                <a:latin typeface="Roboto"/>
                <a:ea typeface="Roboto"/>
                <a:cs typeface="Roboto"/>
                <a:sym typeface="Roboto"/>
              </a:rPr>
              <a:t>plt.xticks</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bold",rotation</a:t>
            </a:r>
            <a:r>
              <a:rPr lang="en-US" b="1" dirty="0">
                <a:solidFill>
                  <a:schemeClr val="dk1"/>
                </a:solidFill>
                <a:latin typeface="Roboto"/>
                <a:ea typeface="Roboto"/>
                <a:cs typeface="Roboto"/>
                <a:sym typeface="Roboto"/>
              </a:rPr>
              <a:t>=0)</a:t>
            </a:r>
          </a:p>
          <a:p>
            <a:pPr marL="609584" algn="just">
              <a:spcAft>
                <a:spcPts val="600"/>
              </a:spcAft>
            </a:pPr>
            <a:r>
              <a:rPr lang="en-US" b="1" dirty="0" err="1">
                <a:solidFill>
                  <a:schemeClr val="dk1"/>
                </a:solidFill>
                <a:latin typeface="Roboto"/>
                <a:ea typeface="Roboto"/>
                <a:cs typeface="Roboto"/>
                <a:sym typeface="Roboto"/>
              </a:rPr>
              <a:t>plt.yticks</a:t>
            </a:r>
            <a:r>
              <a:rPr lang="en-US" b="1" dirty="0">
                <a:solidFill>
                  <a:schemeClr val="dk1"/>
                </a:solidFill>
                <a:latin typeface="Roboto"/>
                <a:ea typeface="Roboto"/>
                <a:cs typeface="Roboto"/>
                <a:sym typeface="Roboto"/>
              </a:rPr>
              <a:t>(</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    </a:t>
            </a:r>
          </a:p>
          <a:p>
            <a:pPr marL="609584" algn="just">
              <a:spcAft>
                <a:spcPts val="600"/>
              </a:spcAft>
            </a:pPr>
            <a:r>
              <a:rPr lang="en-US" b="1" dirty="0" err="1">
                <a:solidFill>
                  <a:schemeClr val="dk1"/>
                </a:solidFill>
                <a:latin typeface="Roboto"/>
                <a:ea typeface="Roboto"/>
                <a:cs typeface="Roboto"/>
                <a:sym typeface="Roboto"/>
              </a:rPr>
              <a:t>plt.xlabel</a:t>
            </a:r>
            <a:r>
              <a:rPr lang="en-US" b="1" dirty="0">
                <a:solidFill>
                  <a:schemeClr val="dk1"/>
                </a:solidFill>
                <a:latin typeface="Roboto"/>
                <a:ea typeface="Roboto"/>
                <a:cs typeface="Roboto"/>
                <a:sym typeface="Roboto"/>
              </a:rPr>
              <a:t>('Age_Group',</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    </a:t>
            </a:r>
          </a:p>
          <a:p>
            <a:pPr marL="609584" algn="just">
              <a:spcAft>
                <a:spcPts val="600"/>
              </a:spcAft>
            </a:pPr>
            <a:r>
              <a:rPr lang="en-US" b="1" dirty="0" err="1">
                <a:solidFill>
                  <a:schemeClr val="dk1"/>
                </a:solidFill>
                <a:latin typeface="Roboto"/>
                <a:ea typeface="Roboto"/>
                <a:cs typeface="Roboto"/>
                <a:sym typeface="Roboto"/>
              </a:rPr>
              <a:t>plt.ylabel</a:t>
            </a:r>
            <a:r>
              <a:rPr lang="en-US" b="1" dirty="0">
                <a:solidFill>
                  <a:schemeClr val="dk1"/>
                </a:solidFill>
                <a:latin typeface="Roboto"/>
                <a:ea typeface="Roboto"/>
                <a:cs typeface="Roboto"/>
                <a:sym typeface="Roboto"/>
              </a:rPr>
              <a:t>('Revenue',</a:t>
            </a:r>
            <a:r>
              <a:rPr lang="en-US" b="1" dirty="0" err="1">
                <a:solidFill>
                  <a:schemeClr val="dk1"/>
                </a:solidFill>
                <a:latin typeface="Roboto"/>
                <a:ea typeface="Roboto"/>
                <a:cs typeface="Roboto"/>
                <a:sym typeface="Roboto"/>
              </a:rPr>
              <a:t>fontweight</a:t>
            </a:r>
            <a:r>
              <a:rPr lang="en-US" b="1" dirty="0">
                <a:solidFill>
                  <a:schemeClr val="dk1"/>
                </a:solidFill>
                <a:latin typeface="Roboto"/>
                <a:ea typeface="Roboto"/>
                <a:cs typeface="Roboto"/>
                <a:sym typeface="Roboto"/>
              </a:rPr>
              <a:t> = 'bold')    </a:t>
            </a:r>
          </a:p>
          <a:p>
            <a:pPr marL="609584" algn="just">
              <a:spcAft>
                <a:spcPts val="600"/>
              </a:spcAft>
            </a:pPr>
            <a:r>
              <a:rPr lang="en-US" b="1" dirty="0" err="1">
                <a:solidFill>
                  <a:schemeClr val="dk1"/>
                </a:solidFill>
                <a:latin typeface="Roboto"/>
                <a:ea typeface="Roboto"/>
                <a:cs typeface="Roboto"/>
                <a:sym typeface="Roboto"/>
              </a:rPr>
              <a:t>plt.show</a:t>
            </a:r>
            <a:r>
              <a:rPr lang="en-US" b="1" dirty="0">
                <a:solidFill>
                  <a:schemeClr val="dk1"/>
                </a:solidFill>
                <a:latin typeface="Roboto"/>
                <a:ea typeface="Roboto"/>
                <a:cs typeface="Roboto"/>
                <a:sym typeface="Roboto"/>
              </a:rPr>
              <a:t>()</a:t>
            </a:r>
          </a:p>
        </p:txBody>
      </p:sp>
      <p:sp>
        <p:nvSpPr>
          <p:cNvPr id="393" name="Google Shape;393;p19">
            <a:extLst>
              <a:ext uri="{FF2B5EF4-FFF2-40B4-BE49-F238E27FC236}">
                <a16:creationId xmlns:a16="http://schemas.microsoft.com/office/drawing/2014/main" id="{DC4FA6A4-90A9-4DB0-C488-5EA8BCC8D312}"/>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A886F697-C73A-D53D-4837-B5308D640E3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ED8F52B8-2B25-A335-599F-99560C99087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4" name="Picture 3">
            <a:extLst>
              <a:ext uri="{FF2B5EF4-FFF2-40B4-BE49-F238E27FC236}">
                <a16:creationId xmlns:a16="http://schemas.microsoft.com/office/drawing/2014/main" id="{F789FF5C-58F2-465A-9738-E8EED6F975BE}"/>
              </a:ext>
            </a:extLst>
          </p:cNvPr>
          <p:cNvPicPr>
            <a:picLocks noChangeAspect="1"/>
          </p:cNvPicPr>
          <p:nvPr/>
        </p:nvPicPr>
        <p:blipFill>
          <a:blip r:embed="rId3"/>
          <a:stretch>
            <a:fillRect/>
          </a:stretch>
        </p:blipFill>
        <p:spPr>
          <a:xfrm>
            <a:off x="5347502" y="1477040"/>
            <a:ext cx="6831097" cy="4821805"/>
          </a:xfrm>
          <a:prstGeom prst="rect">
            <a:avLst/>
          </a:prstGeom>
        </p:spPr>
      </p:pic>
    </p:spTree>
    <p:extLst>
      <p:ext uri="{BB962C8B-B14F-4D97-AF65-F5344CB8AC3E}">
        <p14:creationId xmlns:p14="http://schemas.microsoft.com/office/powerpoint/2010/main" val="679027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DBF5BF8-1951-EDEE-590E-655A5C57F527}"/>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9BBA2840-1A62-DE1C-DF09-B78B945C2519}"/>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Challenges Faced</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2CAB3859-3D6B-5714-B7D2-E5A2FCCA9CB2}"/>
              </a:ext>
            </a:extLst>
          </p:cNvPr>
          <p:cNvSpPr txBox="1"/>
          <p:nvPr/>
        </p:nvSpPr>
        <p:spPr>
          <a:xfrm>
            <a:off x="26800" y="984541"/>
            <a:ext cx="12192000" cy="5416259"/>
          </a:xfrm>
          <a:prstGeom prst="rect">
            <a:avLst/>
          </a:prstGeom>
          <a:noFill/>
          <a:ln>
            <a:noFill/>
          </a:ln>
        </p:spPr>
        <p:txBody>
          <a:bodyPr spcFirstLastPara="1" wrap="square" lIns="365733" tIns="365733" rIns="365733" bIns="365733" anchor="t" anchorCtr="0">
            <a:noAutofit/>
          </a:bodyPr>
          <a:lstStyle/>
          <a:p>
            <a:pPr>
              <a:lnSpc>
                <a:spcPct val="200000"/>
              </a:lnSpc>
            </a:pPr>
            <a:endParaRPr lang="en-US" sz="2133" dirty="0"/>
          </a:p>
        </p:txBody>
      </p:sp>
      <p:sp>
        <p:nvSpPr>
          <p:cNvPr id="393" name="Google Shape;393;p19">
            <a:extLst>
              <a:ext uri="{FF2B5EF4-FFF2-40B4-BE49-F238E27FC236}">
                <a16:creationId xmlns:a16="http://schemas.microsoft.com/office/drawing/2014/main" id="{527E4A87-7E12-F289-496A-B262225542EA}"/>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EDD356DA-0CEF-87A9-7601-E0E111DB8A0D}"/>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62227071-8FFE-D911-0AA2-479D4A29DF01}"/>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 name="Rectangle 2">
            <a:extLst>
              <a:ext uri="{FF2B5EF4-FFF2-40B4-BE49-F238E27FC236}">
                <a16:creationId xmlns:a16="http://schemas.microsoft.com/office/drawing/2014/main" id="{D8B9E967-FA4F-417F-8BC7-1179B6F49736}"/>
              </a:ext>
            </a:extLst>
          </p:cNvPr>
          <p:cNvSpPr>
            <a:spLocks noChangeArrowheads="1"/>
          </p:cNvSpPr>
          <p:nvPr/>
        </p:nvSpPr>
        <p:spPr bwMode="auto">
          <a:xfrm>
            <a:off x="567159" y="1585602"/>
            <a:ext cx="10245112"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It was challenging to clearly identify </a:t>
            </a:r>
            <a:r>
              <a:rPr kumimoji="0" lang="en-US" altLang="en-US" sz="1800" b="1" i="0" u="none" strike="noStrike" cap="none" normalizeH="0" baseline="0" dirty="0">
                <a:ln>
                  <a:noFill/>
                </a:ln>
                <a:solidFill>
                  <a:schemeClr val="tx1"/>
                </a:solidFill>
                <a:effectLst/>
                <a:latin typeface="Arial" panose="020B0604020202020204" pitchFamily="34" charset="0"/>
              </a:rPr>
              <a:t>which customers were high-value vs. low-value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needed preprocessing to group customers by </a:t>
            </a:r>
            <a:r>
              <a:rPr kumimoji="0" lang="en-US" altLang="en-US" sz="1800" b="1" i="0" u="none" strike="noStrike" cap="none" normalizeH="0" baseline="0" dirty="0">
                <a:ln>
                  <a:noFill/>
                </a:ln>
                <a:solidFill>
                  <a:schemeClr val="tx1"/>
                </a:solidFill>
                <a:effectLst/>
                <a:latin typeface="Arial" panose="020B0604020202020204" pitchFamily="34" charset="0"/>
              </a:rPr>
              <a:t>spending, visits, and loyalty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Measuring the </a:t>
            </a:r>
            <a:r>
              <a:rPr kumimoji="0" lang="en-US" altLang="en-US" sz="1800" b="1" i="0" u="none" strike="noStrike" cap="none" normalizeH="0" baseline="0" dirty="0">
                <a:ln>
                  <a:noFill/>
                </a:ln>
                <a:solidFill>
                  <a:schemeClr val="tx1"/>
                </a:solidFill>
                <a:effectLst/>
                <a:latin typeface="Arial" panose="020B0604020202020204" pitchFamily="34" charset="0"/>
              </a:rPr>
              <a:t>impact of promotions and loyalty programs</a:t>
            </a:r>
            <a:r>
              <a:rPr kumimoji="0" lang="en-US" altLang="en-US" sz="1800" b="0" i="0" u="none" strike="noStrike" cap="none" normalizeH="0" baseline="0" dirty="0">
                <a:ln>
                  <a:noFill/>
                </a:ln>
                <a:solidFill>
                  <a:schemeClr val="tx1"/>
                </a:solidFill>
                <a:effectLst/>
                <a:latin typeface="Arial" panose="020B0604020202020204" pitchFamily="34" charset="0"/>
              </a:rPr>
              <a:t> required careful comparison.</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Customer feedback scores were limited and needed proper handling.</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Segmenting customers using </a:t>
            </a:r>
            <a:r>
              <a:rPr kumimoji="0" lang="en-US" altLang="en-US" sz="1800" b="1" i="0" u="none" strike="noStrike" cap="none" normalizeH="0" baseline="0" dirty="0">
                <a:ln>
                  <a:noFill/>
                </a:ln>
                <a:solidFill>
                  <a:schemeClr val="tx1"/>
                </a:solidFill>
                <a:effectLst/>
                <a:latin typeface="Arial" panose="020B0604020202020204" pitchFamily="34" charset="0"/>
              </a:rPr>
              <a:t>RFM analysis</a:t>
            </a:r>
            <a:r>
              <a:rPr kumimoji="0" lang="en-US" altLang="en-US" sz="1800" b="0" i="0" u="none" strike="noStrike" cap="none" normalizeH="0" baseline="0" dirty="0">
                <a:ln>
                  <a:noFill/>
                </a:ln>
                <a:solidFill>
                  <a:schemeClr val="tx1"/>
                </a:solidFill>
                <a:effectLst/>
                <a:latin typeface="Arial" panose="020B0604020202020204" pitchFamily="34" charset="0"/>
              </a:rPr>
              <a:t> and interpreting the scores took effort.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Making clear and meaningful </a:t>
            </a:r>
            <a:r>
              <a:rPr kumimoji="0" lang="en-US" altLang="en-US" sz="1800" b="1" i="0" u="none" strike="noStrike" cap="none" normalizeH="0" baseline="0" dirty="0">
                <a:ln>
                  <a:noFill/>
                </a:ln>
                <a:solidFill>
                  <a:schemeClr val="tx1"/>
                </a:solidFill>
                <a:effectLst/>
                <a:latin typeface="Arial" panose="020B0604020202020204" pitchFamily="34" charset="0"/>
              </a:rPr>
              <a:t>visualizations</a:t>
            </a:r>
            <a:r>
              <a:rPr kumimoji="0" lang="en-US" altLang="en-US" sz="1800" b="0" i="0" u="none" strike="noStrike" cap="none" normalizeH="0" baseline="0" dirty="0">
                <a:ln>
                  <a:noFill/>
                </a:ln>
                <a:solidFill>
                  <a:schemeClr val="tx1"/>
                </a:solidFill>
                <a:effectLst/>
                <a:latin typeface="Arial" panose="020B0604020202020204" pitchFamily="34" charset="0"/>
              </a:rPr>
              <a:t> to explain customer behavior was time-consuming.</a:t>
            </a:r>
          </a:p>
        </p:txBody>
      </p:sp>
    </p:spTree>
    <p:extLst>
      <p:ext uri="{BB962C8B-B14F-4D97-AF65-F5344CB8AC3E}">
        <p14:creationId xmlns:p14="http://schemas.microsoft.com/office/powerpoint/2010/main" val="2740661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E306870D-2F79-7ECA-2593-9A518BF5301F}"/>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0B946D22-6076-1D2D-9A42-53DBA288F2DC}"/>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Suggestions</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8C525E3D-1F19-4AC3-4E30-5A42195B1E16}"/>
              </a:ext>
            </a:extLst>
          </p:cNvPr>
          <p:cNvSpPr txBox="1"/>
          <p:nvPr/>
        </p:nvSpPr>
        <p:spPr>
          <a:xfrm>
            <a:off x="26800" y="984541"/>
            <a:ext cx="12192000" cy="5416259"/>
          </a:xfrm>
          <a:prstGeom prst="rect">
            <a:avLst/>
          </a:prstGeom>
          <a:noFill/>
          <a:ln>
            <a:noFill/>
          </a:ln>
        </p:spPr>
        <p:txBody>
          <a:bodyPr spcFirstLastPara="1" wrap="square" lIns="365733" tIns="365733" rIns="365733" bIns="365733" anchor="t" anchorCtr="0">
            <a:noAutofit/>
          </a:bodyPr>
          <a:lstStyle/>
          <a:p>
            <a:pPr marL="609585">
              <a:spcBef>
                <a:spcPts val="2133"/>
              </a:spcBef>
              <a:spcAft>
                <a:spcPts val="1600"/>
              </a:spcAft>
            </a:pPr>
            <a:endParaRPr lang="en-US" sz="2133"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D1B73865-1D8A-A19A-2359-717FD082A391}"/>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3B9AB799-14BF-F5AC-E1F7-76E5C611264A}"/>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99854ED1-E90B-E668-4D2F-A30B723629F9}"/>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 name="Rectangle 2">
            <a:extLst>
              <a:ext uri="{FF2B5EF4-FFF2-40B4-BE49-F238E27FC236}">
                <a16:creationId xmlns:a16="http://schemas.microsoft.com/office/drawing/2014/main" id="{B290D010-27AA-4165-BC20-CAEF02C72F53}"/>
              </a:ext>
            </a:extLst>
          </p:cNvPr>
          <p:cNvSpPr>
            <a:spLocks noChangeArrowheads="1"/>
          </p:cNvSpPr>
          <p:nvPr/>
        </p:nvSpPr>
        <p:spPr bwMode="auto">
          <a:xfrm>
            <a:off x="435200" y="1526203"/>
            <a:ext cx="10165347" cy="3805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Arial" panose="020B0604020202020204" pitchFamily="34" charset="0"/>
              </a:rPr>
              <a:t>Focus on </a:t>
            </a:r>
            <a:r>
              <a:rPr kumimoji="0" lang="en-US" altLang="en-US" sz="2000" b="1" i="0" u="none" strike="noStrike" cap="none" normalizeH="0" baseline="0" dirty="0">
                <a:ln>
                  <a:noFill/>
                </a:ln>
                <a:solidFill>
                  <a:schemeClr val="tx1"/>
                </a:solidFill>
                <a:effectLst/>
                <a:latin typeface="Arial" panose="020B0604020202020204" pitchFamily="34" charset="0"/>
              </a:rPr>
              <a:t>loyal and high-value customers</a:t>
            </a:r>
            <a:r>
              <a:rPr kumimoji="0" lang="en-US" altLang="en-US" sz="2000" b="0" i="0" u="none" strike="noStrike" cap="none" normalizeH="0" baseline="0" dirty="0">
                <a:ln>
                  <a:noFill/>
                </a:ln>
                <a:solidFill>
                  <a:schemeClr val="tx1"/>
                </a:solidFill>
                <a:effectLst/>
                <a:latin typeface="Arial" panose="020B0604020202020204" pitchFamily="34" charset="0"/>
              </a:rPr>
              <a:t> by giving them special offers.</a:t>
            </a:r>
          </a:p>
          <a:p>
            <a:pPr marL="342900" marR="0" lvl="0" indent="-342900" algn="l" defTabSz="914400" rtl="0" eaLnBrk="0" fontAlgn="base" latinLnBrk="0" hangingPunct="0">
              <a:lnSpc>
                <a:spcPct val="2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Arial" panose="020B0604020202020204" pitchFamily="34" charset="0"/>
              </a:rPr>
              <a:t>The salon should maintain proper records of customers, visits, and spending.</a:t>
            </a:r>
          </a:p>
          <a:p>
            <a:pPr marL="342900" marR="0" lvl="0" indent="-342900" algn="l" defTabSz="914400" rtl="0" eaLnBrk="0" fontAlgn="base" latinLnBrk="0" hangingPunct="0">
              <a:lnSpc>
                <a:spcPct val="2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Arial" panose="020B0604020202020204" pitchFamily="34" charset="0"/>
              </a:rPr>
              <a:t>Improve customer service based on </a:t>
            </a:r>
            <a:r>
              <a:rPr kumimoji="0" lang="en-US" altLang="en-US" sz="2000" b="1" i="0" u="none" strike="noStrike" cap="none" normalizeH="0" baseline="0" dirty="0">
                <a:ln>
                  <a:noFill/>
                </a:ln>
                <a:solidFill>
                  <a:schemeClr val="tx1"/>
                </a:solidFill>
                <a:effectLst/>
                <a:latin typeface="Arial" panose="020B0604020202020204" pitchFamily="34" charset="0"/>
              </a:rPr>
              <a:t>feedback and satisfaction ratings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2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Arial" panose="020B0604020202020204" pitchFamily="34" charset="0"/>
              </a:rPr>
              <a:t>Provide </a:t>
            </a:r>
            <a:r>
              <a:rPr kumimoji="0" lang="en-US" altLang="en-US" sz="2000" b="1" i="0" u="none" strike="noStrike" cap="none" normalizeH="0" baseline="0" dirty="0">
                <a:ln>
                  <a:noFill/>
                </a:ln>
                <a:solidFill>
                  <a:schemeClr val="tx1"/>
                </a:solidFill>
                <a:effectLst/>
                <a:latin typeface="Arial" panose="020B0604020202020204" pitchFamily="34" charset="0"/>
              </a:rPr>
              <a:t>seasonal discounts or promotions</a:t>
            </a:r>
            <a:r>
              <a:rPr kumimoji="0" lang="en-US" altLang="en-US" sz="2000" b="0" i="0" u="none" strike="noStrike" cap="none" normalizeH="0" baseline="0" dirty="0">
                <a:ln>
                  <a:noFill/>
                </a:ln>
                <a:solidFill>
                  <a:schemeClr val="tx1"/>
                </a:solidFill>
                <a:effectLst/>
                <a:latin typeface="Arial" panose="020B0604020202020204" pitchFamily="34" charset="0"/>
              </a:rPr>
              <a:t> to attract more visits.</a:t>
            </a:r>
          </a:p>
          <a:p>
            <a:pPr marL="342900" marR="0" lvl="0" indent="-342900" algn="l" defTabSz="914400" rtl="0" eaLnBrk="0" fontAlgn="base" latinLnBrk="0" hangingPunct="0">
              <a:lnSpc>
                <a:spcPct val="2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Arial" panose="020B0604020202020204" pitchFamily="34" charset="0"/>
              </a:rPr>
              <a:t>Use simple </a:t>
            </a:r>
            <a:r>
              <a:rPr kumimoji="0" lang="en-US" altLang="en-US" sz="2000" b="1" i="0" u="none" strike="noStrike" cap="none" normalizeH="0" baseline="0" dirty="0">
                <a:ln>
                  <a:noFill/>
                </a:ln>
                <a:solidFill>
                  <a:schemeClr val="tx1"/>
                </a:solidFill>
                <a:effectLst/>
                <a:latin typeface="Arial" panose="020B0604020202020204" pitchFamily="34" charset="0"/>
              </a:rPr>
              <a:t>dashboards or reports</a:t>
            </a:r>
            <a:r>
              <a:rPr kumimoji="0" lang="en-US" altLang="en-US" sz="2000" b="0" i="0" u="none" strike="noStrike" cap="none" normalizeH="0" baseline="0" dirty="0">
                <a:ln>
                  <a:noFill/>
                </a:ln>
                <a:solidFill>
                  <a:schemeClr val="tx1"/>
                </a:solidFill>
                <a:effectLst/>
                <a:latin typeface="Arial" panose="020B0604020202020204" pitchFamily="34" charset="0"/>
              </a:rPr>
              <a:t> to track loyalty, spending, and promotions easily.</a:t>
            </a:r>
          </a:p>
        </p:txBody>
      </p:sp>
    </p:spTree>
    <p:extLst>
      <p:ext uri="{BB962C8B-B14F-4D97-AF65-F5344CB8AC3E}">
        <p14:creationId xmlns:p14="http://schemas.microsoft.com/office/powerpoint/2010/main" val="2780112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389">
          <a:extLst>
            <a:ext uri="{FF2B5EF4-FFF2-40B4-BE49-F238E27FC236}">
              <a16:creationId xmlns:a16="http://schemas.microsoft.com/office/drawing/2014/main" id="{A614B642-9E16-8D76-F29E-83A9BEA9D86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BD07FEEF-D8D4-A22F-92F6-A0A75842702C}"/>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Summary : </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04F93651-EA81-5DE7-2897-0A119FED6D39}"/>
              </a:ext>
            </a:extLst>
          </p:cNvPr>
          <p:cNvSpPr txBox="1"/>
          <p:nvPr/>
        </p:nvSpPr>
        <p:spPr>
          <a:xfrm>
            <a:off x="-13400" y="1021535"/>
            <a:ext cx="12192000" cy="5416259"/>
          </a:xfrm>
          <a:prstGeom prst="rect">
            <a:avLst/>
          </a:prstGeom>
          <a:noFill/>
          <a:ln>
            <a:noFill/>
          </a:ln>
        </p:spPr>
        <p:txBody>
          <a:bodyPr spcFirstLastPara="1" wrap="square" lIns="365733" tIns="365733" rIns="365733" bIns="365733" anchor="t" anchorCtr="0">
            <a:noAutofit/>
          </a:bodyPr>
          <a:lstStyle/>
          <a:p>
            <a:endParaRPr lang="en-US" sz="2400" dirty="0"/>
          </a:p>
        </p:txBody>
      </p:sp>
      <p:sp>
        <p:nvSpPr>
          <p:cNvPr id="393" name="Google Shape;393;p19">
            <a:extLst>
              <a:ext uri="{FF2B5EF4-FFF2-40B4-BE49-F238E27FC236}">
                <a16:creationId xmlns:a16="http://schemas.microsoft.com/office/drawing/2014/main" id="{DAB3C523-C3EF-2CD4-7C17-8B9D10ED789A}"/>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9F552E6D-21B0-7187-6D5E-BB7BFA9EA2B0}"/>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0BEABDCB-6D00-06F2-9417-C22C52B85CD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Rectangle 2">
            <a:extLst>
              <a:ext uri="{FF2B5EF4-FFF2-40B4-BE49-F238E27FC236}">
                <a16:creationId xmlns:a16="http://schemas.microsoft.com/office/drawing/2014/main" id="{7363B728-8DF2-4FD1-8365-A385873BE72F}"/>
              </a:ext>
            </a:extLst>
          </p:cNvPr>
          <p:cNvSpPr>
            <a:spLocks noChangeArrowheads="1"/>
          </p:cNvSpPr>
          <p:nvPr/>
        </p:nvSpPr>
        <p:spPr bwMode="auto">
          <a:xfrm>
            <a:off x="626680" y="1243786"/>
            <a:ext cx="1155192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088" tIns="0" rIns="-38088"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1B1C1D"/>
              </a:solidFill>
              <a:effectLst/>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rgbClr val="1B1C1D"/>
                </a:solidFill>
                <a:effectLst/>
                <a:latin typeface="Google Sans Text"/>
              </a:rPr>
              <a:t>Hair Salon Customer Analysis</a:t>
            </a:r>
            <a:endParaRPr kumimoji="0" lang="en-US" altLang="en-US" sz="24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B1C1D"/>
                </a:solidFill>
                <a:effectLst/>
                <a:latin typeface="Google Sans Text"/>
              </a:rPr>
              <a:t>The goal is to analyze customer data (demographics, spending, visit frequency, loyalty, and       feedback) to segment customers and provide actionable insights for the salon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rgbClr val="1B1C1D"/>
                </a:solidFill>
                <a:effectLst/>
                <a:latin typeface="Google Sans Text"/>
              </a:rPr>
              <a:t>Key Findings:</a:t>
            </a:r>
            <a:endParaRPr kumimoji="0" lang="en-US" altLang="en-US" sz="24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1B1C1D"/>
                </a:solidFill>
                <a:effectLst/>
                <a:latin typeface="Google Sans Text"/>
              </a:rPr>
              <a:t>Most customers are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rgbClr val="1B1C1D"/>
                </a:solidFill>
                <a:effectLst/>
                <a:latin typeface="Google Sans Text"/>
              </a:rPr>
              <a:t>Medium Value</a:t>
            </a:r>
            <a:r>
              <a:rPr kumimoji="0" lang="en-US" altLang="en-US" sz="1600" b="0" i="0" u="none" strike="noStrike" cap="none" normalizeH="0" baseline="30000" dirty="0">
                <a:ln>
                  <a:noFill/>
                </a:ln>
                <a:solidFill>
                  <a:srgbClr val="575B5F"/>
                </a:solidFill>
                <a:effectLst/>
                <a:latin typeface="Google Sans Text"/>
              </a:rPr>
              <a:t>3</a:t>
            </a:r>
            <a:r>
              <a:rPr kumimoji="0" lang="en-US" altLang="en-US" sz="1000" b="0" i="0" u="none" strike="noStrike" cap="none" normalizeH="0" baseline="0" dirty="0">
                <a:ln>
                  <a:noFill/>
                </a:ln>
                <a:solidFill>
                  <a:srgbClr val="1B1C1D"/>
                </a:solidFill>
                <a:effectLst/>
                <a:latin typeface="Google Sans Text"/>
              </a:rPr>
              <a:t>.</a:t>
            </a:r>
            <a:endParaRPr kumimoji="0" lang="en-US" altLang="en-US" sz="24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1B1C1D"/>
                </a:solidFill>
                <a:effectLst/>
                <a:latin typeface="Google Sans Text"/>
              </a:rPr>
              <a:t>Haircut</a:t>
            </a:r>
            <a:r>
              <a:rPr kumimoji="0" lang="en-US" altLang="en-US" sz="2400" b="0" i="0" u="none" strike="noStrike" cap="none" normalizeH="0" baseline="0" dirty="0">
                <a:ln>
                  <a:noFill/>
                </a:ln>
                <a:solidFill>
                  <a:srgbClr val="1B1C1D"/>
                </a:solidFill>
                <a:effectLst/>
                <a:latin typeface="Google Sans Text"/>
              </a:rPr>
              <a:t> accounts for the highest total spend (</a:t>
            </a:r>
            <a:r>
              <a:rPr kumimoji="0" lang="en-US" altLang="en-US" sz="2400" b="1" i="0" u="none" strike="noStrike" cap="none" normalizeH="0" baseline="0" dirty="0">
                <a:ln>
                  <a:noFill/>
                </a:ln>
                <a:solidFill>
                  <a:srgbClr val="1B1C1D"/>
                </a:solidFill>
                <a:effectLst/>
                <a:latin typeface="Google Sans Text"/>
              </a:rPr>
              <a:t>29.0%</a:t>
            </a:r>
            <a:r>
              <a:rPr kumimoji="0" lang="en-US" altLang="en-US" sz="2400" b="0" i="0" u="none" strike="noStrike" cap="none" normalizeH="0" baseline="0" dirty="0">
                <a:ln>
                  <a:noFill/>
                </a:ln>
                <a:solidFill>
                  <a:srgbClr val="1B1C1D"/>
                </a:solidFill>
                <a:effectLst/>
                <a:latin typeface="Google Sans Text"/>
              </a:rPr>
              <a:t> of total spend by customer)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1B1C1D"/>
                </a:solidFill>
                <a:effectLst/>
                <a:latin typeface="Google Sans Text"/>
              </a:rPr>
              <a:t>Occasional Visitors</a:t>
            </a:r>
            <a:r>
              <a:rPr kumimoji="0" lang="en-US" altLang="en-US" sz="2400" b="0" i="0" u="none" strike="noStrike" cap="none" normalizeH="0" baseline="0" dirty="0">
                <a:ln>
                  <a:noFill/>
                </a:ln>
                <a:solidFill>
                  <a:srgbClr val="1B1C1D"/>
                </a:solidFill>
                <a:effectLst/>
                <a:latin typeface="Google Sans Text"/>
              </a:rPr>
              <a:t> contribute the most to total spend (</a:t>
            </a:r>
            <a:r>
              <a:rPr kumimoji="0" lang="en-US" altLang="en-US" sz="2400" b="1" i="0" u="none" strike="noStrike" cap="none" normalizeH="0" baseline="0" dirty="0">
                <a:ln>
                  <a:noFill/>
                </a:ln>
                <a:solidFill>
                  <a:srgbClr val="1B1C1D"/>
                </a:solidFill>
                <a:effectLst/>
                <a:latin typeface="Google Sans Text"/>
              </a:rPr>
              <a:t>37%)</a:t>
            </a:r>
            <a:endParaRPr kumimoji="0" lang="en-US" altLang="en-US" sz="24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1B1C1D"/>
                </a:solidFill>
                <a:effectLst/>
                <a:latin typeface="Google Sans Text"/>
              </a:rPr>
              <a:t>64%</a:t>
            </a:r>
            <a:r>
              <a:rPr kumimoji="0" lang="en-US" altLang="en-US" sz="2400" b="0" i="0" u="none" strike="noStrike" cap="none" normalizeH="0" baseline="0" dirty="0">
                <a:ln>
                  <a:noFill/>
                </a:ln>
                <a:solidFill>
                  <a:srgbClr val="1B1C1D"/>
                </a:solidFill>
                <a:effectLst/>
                <a:latin typeface="Google Sans Text"/>
              </a:rPr>
              <a:t> of customers are </a:t>
            </a:r>
            <a:r>
              <a:rPr kumimoji="0" lang="en-US" altLang="en-US" sz="2400" b="1" i="0" u="none" strike="noStrike" cap="none" normalizeH="0" baseline="0" dirty="0">
                <a:ln>
                  <a:noFill/>
                </a:ln>
                <a:solidFill>
                  <a:srgbClr val="1B1C1D"/>
                </a:solidFill>
                <a:effectLst/>
                <a:latin typeface="Google Sans Text"/>
              </a:rPr>
              <a:t>not</a:t>
            </a:r>
            <a:r>
              <a:rPr kumimoji="0" lang="en-US" altLang="en-US" sz="2400" b="0" i="0" u="none" strike="noStrike" cap="none" normalizeH="0" baseline="0" dirty="0">
                <a:ln>
                  <a:noFill/>
                </a:ln>
                <a:solidFill>
                  <a:srgbClr val="1B1C1D"/>
                </a:solidFill>
                <a:effectLst/>
                <a:latin typeface="Google Sans Text"/>
              </a:rPr>
              <a:t> in the Loyalty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1B1C1D"/>
                </a:solidFill>
                <a:effectLst/>
                <a:latin typeface="Google Sans Text"/>
              </a:rPr>
              <a:t>The </a:t>
            </a:r>
            <a:r>
              <a:rPr kumimoji="0" lang="en-US" altLang="en-US" sz="2400" b="1" i="0" u="none" strike="noStrike" cap="none" normalizeH="0" baseline="0" dirty="0">
                <a:ln>
                  <a:noFill/>
                </a:ln>
                <a:solidFill>
                  <a:srgbClr val="1B1C1D"/>
                </a:solidFill>
                <a:effectLst/>
                <a:latin typeface="Google Sans Text"/>
              </a:rPr>
              <a:t>Adult</a:t>
            </a:r>
            <a:r>
              <a:rPr kumimoji="0" lang="en-US" altLang="en-US" sz="2400" b="0" i="0" u="none" strike="noStrike" cap="none" normalizeH="0" baseline="0" dirty="0">
                <a:ln>
                  <a:noFill/>
                </a:ln>
                <a:solidFill>
                  <a:srgbClr val="1B1C1D"/>
                </a:solidFill>
                <a:effectLst/>
                <a:latin typeface="Google Sans Text"/>
              </a:rPr>
              <a:t> age group generates the highest total revenue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rgbClr val="1B1C1D"/>
                </a:solidFill>
                <a:effectLst/>
                <a:latin typeface="Google Sans Text"/>
              </a:rPr>
              <a:t>.</a:t>
            </a:r>
            <a:endParaRPr kumimoji="0" lang="en-US" altLang="en-US" sz="18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5588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614B642-9E16-8D76-F29E-83A9BEA9D860}"/>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BD07FEEF-D8D4-A22F-92F6-A0A75842702C}"/>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Conclusion  </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04F93651-EA81-5DE7-2897-0A119FED6D39}"/>
              </a:ext>
            </a:extLst>
          </p:cNvPr>
          <p:cNvSpPr txBox="1"/>
          <p:nvPr/>
        </p:nvSpPr>
        <p:spPr>
          <a:xfrm>
            <a:off x="-13400" y="1021535"/>
            <a:ext cx="12192000" cy="5416259"/>
          </a:xfrm>
          <a:prstGeom prst="rect">
            <a:avLst/>
          </a:prstGeom>
          <a:noFill/>
          <a:ln>
            <a:noFill/>
          </a:ln>
        </p:spPr>
        <p:txBody>
          <a:bodyPr spcFirstLastPara="1" wrap="square" lIns="365733" tIns="365733" rIns="365733" bIns="365733" anchor="t" anchorCtr="0">
            <a:noAutofit/>
          </a:bodyPr>
          <a:lstStyle/>
          <a:p>
            <a:r>
              <a:rPr lang="en-US" sz="2400" dirty="0"/>
              <a:t>The Hair Salon Customer Analysis project helped me understand how to clean and analyze customer data. I learned to identify high-value and loyal customers, study visit frequency and spending patterns, and check how promotions and loyalty programs affect customer behavior.</a:t>
            </a:r>
            <a:br>
              <a:rPr lang="en-US" sz="2400" dirty="0"/>
            </a:br>
            <a:endParaRPr lang="en-US" sz="2400" dirty="0"/>
          </a:p>
          <a:p>
            <a:r>
              <a:rPr lang="en-US" sz="2400" dirty="0"/>
              <a:t>This project showed how data analysis can solve real business problems, improve decision-making, and support salon owners in increasing revenue, customer satisfaction, and retention.</a:t>
            </a:r>
          </a:p>
        </p:txBody>
      </p:sp>
      <p:sp>
        <p:nvSpPr>
          <p:cNvPr id="393" name="Google Shape;393;p19">
            <a:extLst>
              <a:ext uri="{FF2B5EF4-FFF2-40B4-BE49-F238E27FC236}">
                <a16:creationId xmlns:a16="http://schemas.microsoft.com/office/drawing/2014/main" id="{DAB3C523-C3EF-2CD4-7C17-8B9D10ED789A}"/>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9F552E6D-21B0-7187-6D5E-BB7BFA9EA2B0}"/>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0BEABDCB-6D00-06F2-9417-C22C52B85CD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65869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478D911F-C453-F4E4-789D-EF00F88208A8}"/>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7F799E5B-F88F-E36C-04D1-EF2414E73C94}"/>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Aft>
                <a:spcPts val="2133"/>
              </a:spcAft>
            </a:pPr>
            <a:r>
              <a:rPr lang="en-IN" sz="40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Roboto"/>
              </a:rPr>
              <a:t>  </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FF07CB34-1F2B-3297-4EF7-2395EDE043AF}"/>
              </a:ext>
            </a:extLst>
          </p:cNvPr>
          <p:cNvSpPr txBox="1"/>
          <p:nvPr/>
        </p:nvSpPr>
        <p:spPr>
          <a:xfrm>
            <a:off x="0" y="984541"/>
            <a:ext cx="12192000" cy="5416259"/>
          </a:xfrm>
          <a:prstGeom prst="rect">
            <a:avLst/>
          </a:prstGeom>
          <a:noFill/>
          <a:ln>
            <a:noFill/>
          </a:ln>
        </p:spPr>
        <p:txBody>
          <a:bodyPr spcFirstLastPara="1" wrap="square" lIns="365733" tIns="365733" rIns="365733" bIns="365733" anchor="ctr" anchorCtr="0">
            <a:noAutofit/>
          </a:bodyPr>
          <a:lstStyle/>
          <a:p>
            <a:pPr marL="609585" algn="ctr">
              <a:spcBef>
                <a:spcPts val="2133"/>
              </a:spcBef>
              <a:spcAft>
                <a:spcPts val="1600"/>
              </a:spcAft>
            </a:pPr>
            <a:r>
              <a:rPr lang="en-US" sz="8000" b="1" dirty="0">
                <a:solidFill>
                  <a:srgbClr val="FF6A0E"/>
                </a:solidFill>
              </a:rPr>
              <a:t>Thank you </a:t>
            </a:r>
            <a:endParaRPr lang="en-IN" sz="8000" b="1" dirty="0">
              <a:solidFill>
                <a:srgbClr val="FF6A0E"/>
              </a:solidFill>
            </a:endParaRPr>
          </a:p>
          <a:p>
            <a:pPr marL="609585" algn="just">
              <a:spcBef>
                <a:spcPts val="2133"/>
              </a:spcBef>
              <a:spcAft>
                <a:spcPts val="1600"/>
              </a:spcAft>
            </a:pPr>
            <a:endParaRPr lang="en-US" sz="2133" b="1"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E552159D-0E56-C437-3074-CC5AFCCA42EC}"/>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DB23BEE4-9CE7-6935-C30B-62E31963210F}"/>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842548D8-B095-7EA8-064A-C9A498988A06}"/>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1243753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TotalTime>
  <Words>1773</Words>
  <Application>Microsoft Office PowerPoint</Application>
  <PresentationFormat>Widescreen</PresentationFormat>
  <Paragraphs>181</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Google Sans Text</vt:lpstr>
      <vt:lpstr>Roboto</vt:lpstr>
      <vt:lpstr>Times New Roman</vt:lpstr>
      <vt:lpstr>Wingdings</vt:lpstr>
      <vt:lpstr>Office Theme</vt:lpstr>
      <vt:lpstr>PowerPoint Presentation</vt:lpstr>
      <vt:lpstr>Introduction </vt:lpstr>
      <vt:lpstr>Dataset Description  </vt:lpstr>
      <vt:lpstr>Problem Statement </vt:lpstr>
      <vt:lpstr> </vt:lpstr>
      <vt:lpstr>PowerPoint Presentation</vt:lpstr>
      <vt:lpstr>PowerPoint Presentation</vt:lpstr>
      <vt:lpstr> </vt:lpstr>
      <vt:lpstr>PowerPoint Presentation</vt:lpstr>
      <vt:lpstr> </vt:lpstr>
      <vt:lpstr> </vt:lpstr>
      <vt:lpstr> </vt:lpstr>
      <vt:lpstr> </vt:lpstr>
      <vt:lpstr> </vt:lpstr>
      <vt:lpstr>PowerPoint Presentation</vt:lpstr>
      <vt:lpstr>PowerPoint Presentation</vt:lpstr>
      <vt:lpstr>Challenges Faced</vt:lpstr>
      <vt:lpstr>Suggestions</vt:lpstr>
      <vt:lpstr>Summary : </vt:lpstr>
      <vt:lpstr>Conclusion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dandekar</dc:creator>
  <cp:lastModifiedBy>vinay dandekar</cp:lastModifiedBy>
  <cp:revision>13</cp:revision>
  <dcterms:created xsi:type="dcterms:W3CDTF">2025-09-26T01:55:55Z</dcterms:created>
  <dcterms:modified xsi:type="dcterms:W3CDTF">2025-09-26T16:08:59Z</dcterms:modified>
</cp:coreProperties>
</file>